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072A66"/>
                </a:solidFill>
                <a:latin typeface="Calibri"/>
              </a:rPr>
              <a:t>Revenue &amp; EBITDA growth (A$m)</a:t>
            </a:r>
          </a:p>
        </c:rich>
      </c:tx>
      <c:layout/>
      <c:overlay val="0"/>
    </c:title>
    <c:autoTitleDeleted val="0"/>
    <c:plotArea>
      <c:barChart>
        <c:barDir val="col"/>
        <c:grouping val="clustered"/>
        <c:ser>
          <c:idx val="0"/>
          <c:order val="0"/>
          <c:tx>
            <c:strRef>
              <c:f>Sheet1!$B$1</c:f>
              <c:strCache>
                <c:ptCount val="1"/>
                <c:pt idx="0">
                  <c:v>Net revenue (A$m)</c:v>
                </c:pt>
              </c:strCache>
            </c:strRef>
          </c:tx>
          <c:spPr>
            <a:solidFill>
              <a:srgbClr val="0B3D91"/>
            </a:solidFill>
          </c:spPr>
          <c:dLbls>
            <c:txPr>
              <a:bodyPr/>
              <a:lstStyle/>
              <a:p>
                <a:pPr>
                  <a:defRPr sz="900" b="1">
                    <a:solidFill>
                      <a:srgbClr val="2A2A2A"/>
                    </a:solidFill>
                  </a:defRPr>
                </a:pPr>
              </a:p>
            </c:txPr>
            <c:dLblPos val="outEnd"/>
            <c:showLegendKey val="0"/>
            <c:showVal val="1"/>
            <c:showCatName val="0"/>
            <c:showSerName val="0"/>
            <c:showPercent val="0"/>
            <c:showBubbleSize val="0"/>
            <c:showLeaderLines val="1"/>
          </c:dLbls>
          <c:cat>
            <c:strRef>
              <c:f>Sheet1!$A$2:$A$4</c:f>
              <c:strCache>
                <c:ptCount val="3"/>
                <c:pt idx="0">
                  <c:v>FY24</c:v>
                </c:pt>
                <c:pt idx="1">
                  <c:v>FY25</c:v>
                </c:pt>
                <c:pt idx="2">
                  <c:v>FY26 guidance</c:v>
                </c:pt>
              </c:strCache>
            </c:strRef>
          </c:cat>
          <c:val>
            <c:numRef>
              <c:f>Sheet1!$B$2:$B$4</c:f>
              <c:numCache>
                <c:formatCode>General</c:formatCode>
                <c:ptCount val="3"/>
                <c:pt idx="0">
                  <c:v>307</c:v>
                </c:pt>
                <c:pt idx="1">
                  <c:v>350.2</c:v>
                </c:pt>
                <c:pt idx="2">
                  <c:v>395</c:v>
                </c:pt>
              </c:numCache>
            </c:numRef>
          </c:val>
        </c:ser>
        <c:ser>
          <c:idx val="1"/>
          <c:order val="1"/>
          <c:tx>
            <c:strRef>
              <c:f>Sheet1!$C$1</c:f>
              <c:strCache>
                <c:ptCount val="1"/>
                <c:pt idx="0">
                  <c:v>Underlying EBITDA (A$m)</c:v>
                </c:pt>
              </c:strCache>
            </c:strRef>
          </c:tx>
          <c:spPr>
            <a:solidFill>
              <a:srgbClr val="E8A317"/>
            </a:solidFill>
          </c:spPr>
          <c:dLbls>
            <c:txPr>
              <a:bodyPr/>
              <a:lstStyle/>
              <a:p>
                <a:pPr>
                  <a:defRPr sz="900" b="1">
                    <a:solidFill>
                      <a:srgbClr val="2A2A2A"/>
                    </a:solidFill>
                  </a:defRPr>
                </a:pPr>
              </a:p>
            </c:txPr>
            <c:dLblPos val="outEnd"/>
            <c:showLegendKey val="0"/>
            <c:showVal val="1"/>
            <c:showCatName val="0"/>
            <c:showSerName val="0"/>
            <c:showPercent val="0"/>
            <c:showBubbleSize val="0"/>
            <c:showLeaderLines val="1"/>
          </c:dLbls>
          <c:cat>
            <c:strRef>
              <c:f>Sheet1!$A$2:$A$4</c:f>
              <c:strCache>
                <c:ptCount val="3"/>
                <c:pt idx="0">
                  <c:v>FY24</c:v>
                </c:pt>
                <c:pt idx="1">
                  <c:v>FY25</c:v>
                </c:pt>
                <c:pt idx="2">
                  <c:v>FY26 guidance</c:v>
                </c:pt>
              </c:strCache>
            </c:strRef>
          </c:cat>
          <c:val>
            <c:numRef>
              <c:f>Sheet1!$C$2:$C$4</c:f>
              <c:numCache>
                <c:formatCode>General</c:formatCode>
                <c:ptCount val="3"/>
                <c:pt idx="0">
                  <c:v>205</c:v>
                </c:pt>
                <c:pt idx="1">
                  <c:v>216.8</c:v>
                </c:pt>
                <c:pt idx="2">
                  <c:v>235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(0:25)</a:t>
            </a:r>
          </a:p>
          <a:p/>
          <a:p>
            <a:r>
              <a:t>Good morning. We were asked which of Beacon Lighting, NextDC, or Flight Centre we would invest in — and our recommendation is NextDC. In the next five minutes we'll walk you through why the other two fall short, and why NextDC's strategy, financials, and operations make it the strongest investment of the three for an Australian-focused portfolio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(0:25)</a:t>
            </a:r>
          </a:p>
          <a:p/>
          <a:p>
            <a:r>
              <a:t>All three are ASX-listed and meaningful Australian businesses. Beacon Lighting is a specialty lighting retailer. Flight Centre is Australia's largest travel agency. NextDC is Australia's largest independent data-centre operator. The three sit at very different points in the cycle — and we think only one is positioned for the structural tailwind that matters most over the next decade.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(0:50)</a:t>
            </a:r>
          </a:p>
          <a:p/>
          <a:p>
            <a:r>
              <a:t>Beacon Lighting is a quality business but the wrong moment in the cycle. Strategy — growth is bound to housing turnover and renovation, both suppressed by elevated mortgage rates. Finance — revenue grew only 1.8%, NPAT fell 2.4%, margin compression is real. The dividend is supported but the D/E ratio of 61% caps flexibility. Operations are well-run, but for an investor choosing one of three, the upside is capped.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(0:50)</a:t>
            </a:r>
          </a:p>
          <a:p/>
          <a:p>
            <a:r>
              <a:t>Flight Centre has recovered from COVID but faces a structural margin problem. Strategy — leisure travellers increasingly bypass agents and book direct. The corporate division is the better business but exposed to enterprise cost cycles. Finance — record TTV at A$24.5bn but UPBT margins are well below FY19. The market knows: the share price is at multi-year lows. It's a recovery story, but competing against a structural growth story, and that's not a contest we want to take.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(0:50)</a:t>
            </a:r>
          </a:p>
          <a:p/>
          <a:p>
            <a:r>
              <a:t>NextDC is the only pure-play listed Australian data-centre operator at scale. First — demand is structural. AI workloads and cloud migration drive multi-year demand that doesn't care about the short-term economic cycle. The forward order book hit a record 133.9 megawatts in FY25. Second — the moats are real. NextDC already holds grid connection rights in Sydney and Melbourne — new entrants face multi-year delays. Third — the contracts are bond-like. Long-dated agreements with AWS, Microsoft and Google give cashflow visibility, but escalators and capacity expansion options keep the upside.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5 (0:50)</a:t>
            </a:r>
          </a:p>
          <a:p/>
          <a:p>
            <a:r>
              <a:t>Financially, NextDC is profitable at the EBITDA line but deliberately reinvesting. Revenue grew 14% in FY25 to A$350 million; underlying EBITDA grew 6% to A$216.8 million. FY26 guidance points to another 12% revenue growth at the midpoint. The EBITDA margin above 60% on data-centre services is industry-leading. The capital plan is A$2.2 billion — large, but underwritten by contracted backlog where roughly 85% is expected to convert to billings by FY27. Statutory NPAT lags due to depreciation from the build programme — we're buying contracted megawatts, not next-quarter EPS.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6 (0:50)</a:t>
            </a:r>
          </a:p>
          <a:p/>
          <a:p>
            <a:r>
              <a:t>Operationally, NextDC is built to last. Tier III and IV certified facilities. Industry-leading PUE. Renewable PPAs and on-site solar at selected sites. What ties this together is the build discipline — modular halls means capacity comes online matched to contracted demand, not speculatively. And critically, ESG is no longer a constraint on the business — it's a competitive moat. Hyperscaler customers are under their own net-zero commitments, so they're forced to choose suppliers like NextDC. That's an advantage smaller operators can't easily replicate.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6 (0:20)</a:t>
            </a:r>
          </a:p>
          <a:p/>
          <a:p>
            <a:r>
              <a:t>We've stress-tested the call. The main risks are: grid power constraints in Sydney and Melbourne delaying new builds; hyperscaler in-sourcing of capacity; rising cost of capital pressuring the capex-heavy model; and concentration of revenue across a small number of large customers. Each is real — but none break the thesis.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(0:20)</a:t>
            </a:r>
          </a:p>
          <a:p/>
          <a:p>
            <a:r>
              <a:t>To close — Beacon Lighting is defensive but capped. Flight Centre is a recovery without a clear re-rating catalyst. NextDC owns the physical layer of the AI and cloud build-out in Australia, with contracted growth, industry-leading margins, and operational moats that compound. Our recommendation is to invest in NextDC. 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slide — no speaker. Displayed during Q&amp;A or close.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02336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1874519"/>
            <a:ext cx="777240" cy="73152"/>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0"/>
            <a:ext cx="7315200" cy="365760"/>
          </a:xfrm>
          <a:prstGeom prst="rect">
            <a:avLst/>
          </a:prstGeom>
          <a:noFill/>
        </p:spPr>
        <p:txBody>
          <a:bodyPr wrap="square" lIns="0" rIns="0" tIns="0" bIns="0" anchor="t">
            <a:spAutoFit/>
          </a:bodyPr>
          <a:lstStyle/>
          <a:p>
            <a:pPr algn="l"/>
            <a:r>
              <a:rPr sz="1300" b="1" i="0">
                <a:solidFill>
                  <a:srgbClr val="E8A317"/>
                </a:solidFill>
                <a:latin typeface="Calibri"/>
              </a:rPr>
              <a:t>BEX3000 · GROUP PRESENTATION</a:t>
            </a:r>
          </a:p>
        </p:txBody>
      </p:sp>
      <p:sp>
        <p:nvSpPr>
          <p:cNvPr id="6" name="TextBox 5"/>
          <p:cNvSpPr txBox="1"/>
          <p:nvPr/>
        </p:nvSpPr>
        <p:spPr>
          <a:xfrm>
            <a:off x="640080" y="2057400"/>
            <a:ext cx="10972800" cy="914400"/>
          </a:xfrm>
          <a:prstGeom prst="rect">
            <a:avLst/>
          </a:prstGeom>
          <a:noFill/>
        </p:spPr>
        <p:txBody>
          <a:bodyPr wrap="square" lIns="0" rIns="0" tIns="0" bIns="0" anchor="t">
            <a:spAutoFit/>
          </a:bodyPr>
          <a:lstStyle/>
          <a:p>
            <a:pPr algn="l"/>
            <a:r>
              <a:rPr sz="4400" b="1" i="0">
                <a:solidFill>
                  <a:srgbClr val="FFFFFF"/>
                </a:solidFill>
                <a:latin typeface="Calibri"/>
              </a:rPr>
              <a:t>Where should we invest?</a:t>
            </a:r>
          </a:p>
        </p:txBody>
      </p:sp>
      <p:sp>
        <p:nvSpPr>
          <p:cNvPr id="7" name="TextBox 6"/>
          <p:cNvSpPr txBox="1"/>
          <p:nvPr/>
        </p:nvSpPr>
        <p:spPr>
          <a:xfrm>
            <a:off x="640080" y="2880360"/>
            <a:ext cx="10972800" cy="548640"/>
          </a:xfrm>
          <a:prstGeom prst="rect">
            <a:avLst/>
          </a:prstGeom>
          <a:noFill/>
        </p:spPr>
        <p:txBody>
          <a:bodyPr wrap="square" lIns="0" rIns="0" tIns="0" bIns="0" anchor="t">
            <a:spAutoFit/>
          </a:bodyPr>
          <a:lstStyle/>
          <a:p>
            <a:pPr algn="l"/>
            <a:r>
              <a:rPr sz="2200" b="0" i="1">
                <a:solidFill>
                  <a:srgbClr val="FFFFFF"/>
                </a:solidFill>
                <a:latin typeface="Calibri"/>
              </a:rPr>
              <a:t>Beacon Lighting  ·  Flight Centre  ·  NextDC</a:t>
            </a:r>
          </a:p>
        </p:txBody>
      </p:sp>
      <p:sp>
        <p:nvSpPr>
          <p:cNvPr id="8" name="Rectangle 7"/>
          <p:cNvSpPr/>
          <p:nvPr/>
        </p:nvSpPr>
        <p:spPr>
          <a:xfrm>
            <a:off x="640080" y="4434840"/>
            <a:ext cx="10972800" cy="13716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4434840"/>
            <a:ext cx="109728" cy="137160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572000"/>
            <a:ext cx="7315200" cy="365760"/>
          </a:xfrm>
          <a:prstGeom prst="rect">
            <a:avLst/>
          </a:prstGeom>
          <a:noFill/>
        </p:spPr>
        <p:txBody>
          <a:bodyPr wrap="square" lIns="0" rIns="0" tIns="0" bIns="0" anchor="t">
            <a:spAutoFit/>
          </a:bodyPr>
          <a:lstStyle/>
          <a:p>
            <a:pPr algn="l"/>
            <a:r>
              <a:rPr sz="1200" b="1" i="0">
                <a:solidFill>
                  <a:srgbClr val="E8A317"/>
                </a:solidFill>
                <a:latin typeface="Calibri"/>
              </a:rPr>
              <a:t>OUR RECOMMENDATION</a:t>
            </a:r>
          </a:p>
        </p:txBody>
      </p:sp>
      <p:sp>
        <p:nvSpPr>
          <p:cNvPr id="11" name="TextBox 10"/>
          <p:cNvSpPr txBox="1"/>
          <p:nvPr/>
        </p:nvSpPr>
        <p:spPr>
          <a:xfrm>
            <a:off x="960120" y="4892040"/>
            <a:ext cx="10972800" cy="640080"/>
          </a:xfrm>
          <a:prstGeom prst="rect">
            <a:avLst/>
          </a:prstGeom>
          <a:noFill/>
        </p:spPr>
        <p:txBody>
          <a:bodyPr wrap="square" lIns="0" rIns="0" tIns="0" bIns="0" anchor="t">
            <a:spAutoFit/>
          </a:bodyPr>
          <a:lstStyle/>
          <a:p>
            <a:pPr algn="l"/>
            <a:r>
              <a:rPr sz="2800" b="1" i="0">
                <a:solidFill>
                  <a:srgbClr val="072A66"/>
                </a:solidFill>
                <a:latin typeface="Calibri"/>
              </a:rPr>
              <a:t>Invest in NextDC Limited (ASX: NXT)</a:t>
            </a:r>
          </a:p>
        </p:txBody>
      </p:sp>
      <p:sp>
        <p:nvSpPr>
          <p:cNvPr id="12" name="TextBox 11"/>
          <p:cNvSpPr txBox="1"/>
          <p:nvPr/>
        </p:nvSpPr>
        <p:spPr>
          <a:xfrm>
            <a:off x="960120" y="5394960"/>
            <a:ext cx="10972800" cy="365760"/>
          </a:xfrm>
          <a:prstGeom prst="rect">
            <a:avLst/>
          </a:prstGeom>
          <a:noFill/>
        </p:spPr>
        <p:txBody>
          <a:bodyPr wrap="square" lIns="0" rIns="0" tIns="0" bIns="0" anchor="t">
            <a:spAutoFit/>
          </a:bodyPr>
          <a:lstStyle/>
          <a:p>
            <a:pPr algn="l"/>
            <a:r>
              <a:rPr sz="1400" b="0" i="1">
                <a:solidFill>
                  <a:srgbClr val="555555"/>
                </a:solidFill>
                <a:latin typeface="Calibri"/>
              </a:rPr>
              <a:t>Structural AI demand · 60%+ EBITDA margin · Hyperscaler-anchored moat</a:t>
            </a:r>
          </a:p>
        </p:txBody>
      </p:sp>
      <p:sp>
        <p:nvSpPr>
          <p:cNvPr id="13" name="TextBox 12"/>
          <p:cNvSpPr txBox="1"/>
          <p:nvPr/>
        </p:nvSpPr>
        <p:spPr>
          <a:xfrm>
            <a:off x="640080" y="6126480"/>
            <a:ext cx="10972800" cy="320040"/>
          </a:xfrm>
          <a:prstGeom prst="rect">
            <a:avLst/>
          </a:prstGeom>
          <a:noFill/>
        </p:spPr>
        <p:txBody>
          <a:bodyPr wrap="square" lIns="0" rIns="0" tIns="0" bIns="0" anchor="t">
            <a:spAutoFit/>
          </a:bodyPr>
          <a:lstStyle/>
          <a:p>
            <a:pPr algn="l"/>
            <a:r>
              <a:rPr sz="1100" b="0" i="0">
                <a:solidFill>
                  <a:srgbClr val="555555"/>
                </a:solidFill>
                <a:latin typeface="Calibri"/>
              </a:rPr>
              <a:t>BEX3000 · Professional Development for Business  |  Week 12 Group Presentation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274320"/>
          </a:xfrm>
          <a:prstGeom prst="rect">
            <a:avLst/>
          </a:prstGeom>
          <a:noFill/>
        </p:spPr>
        <p:txBody>
          <a:bodyPr wrap="square" lIns="0" rIns="0" tIns="0" bIns="0" anchor="t">
            <a:spAutoFit/>
          </a:bodyPr>
          <a:lstStyle/>
          <a:p>
            <a:pPr algn="l"/>
            <a:r>
              <a:rPr sz="1100" b="1" i="0">
                <a:solidFill>
                  <a:srgbClr val="E8A317"/>
                </a:solidFill>
                <a:latin typeface="Calibri"/>
              </a:rPr>
              <a:t>01 · SNAPSHOT</a:t>
            </a:r>
          </a:p>
        </p:txBody>
      </p:sp>
      <p:sp>
        <p:nvSpPr>
          <p:cNvPr id="5" name="Rectangle 4"/>
          <p:cNvSpPr/>
          <p:nvPr/>
        </p:nvSpPr>
        <p:spPr>
          <a:xfrm>
            <a:off x="411480" y="914400"/>
            <a:ext cx="73152" cy="50292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868680"/>
            <a:ext cx="10972800" cy="640080"/>
          </a:xfrm>
          <a:prstGeom prst="rect">
            <a:avLst/>
          </a:prstGeom>
          <a:noFill/>
        </p:spPr>
        <p:txBody>
          <a:bodyPr wrap="square" lIns="0" rIns="0" tIns="0" bIns="0" anchor="t">
            <a:spAutoFit/>
          </a:bodyPr>
          <a:lstStyle/>
          <a:p>
            <a:pPr algn="l"/>
            <a:r>
              <a:rPr sz="3000" b="1" i="0">
                <a:solidFill>
                  <a:srgbClr val="072A66"/>
                </a:solidFill>
                <a:latin typeface="Calibri"/>
              </a:rPr>
              <a:t>The three candidates</a:t>
            </a:r>
          </a:p>
        </p:txBody>
      </p:sp>
      <p:sp>
        <p:nvSpPr>
          <p:cNvPr id="7" name="Rectangle 6"/>
          <p:cNvSpPr/>
          <p:nvPr/>
        </p:nvSpPr>
        <p:spPr>
          <a:xfrm>
            <a:off x="640080" y="1828800"/>
            <a:ext cx="3566160" cy="42062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828800"/>
            <a:ext cx="3566160"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2194560"/>
            <a:ext cx="1280160" cy="292608"/>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194560"/>
            <a:ext cx="1280160" cy="292608"/>
          </a:xfrm>
          <a:prstGeom prst="rect">
            <a:avLst/>
          </a:prstGeom>
          <a:noFill/>
        </p:spPr>
        <p:txBody>
          <a:bodyPr wrap="square" lIns="0" rIns="0" tIns="0" bIns="0" anchor="ctr">
            <a:spAutoFit/>
          </a:bodyPr>
          <a:lstStyle/>
          <a:p>
            <a:pPr algn="ctr"/>
            <a:r>
              <a:rPr sz="1100" b="1" i="0">
                <a:solidFill>
                  <a:srgbClr val="FFFFFF"/>
                </a:solidFill>
                <a:latin typeface="Calibri"/>
              </a:rPr>
              <a:t>ASX: BLX</a:t>
            </a:r>
          </a:p>
        </p:txBody>
      </p:sp>
      <p:sp>
        <p:nvSpPr>
          <p:cNvPr id="11" name="TextBox 10"/>
          <p:cNvSpPr txBox="1"/>
          <p:nvPr/>
        </p:nvSpPr>
        <p:spPr>
          <a:xfrm>
            <a:off x="914400" y="2606040"/>
            <a:ext cx="3017520" cy="457200"/>
          </a:xfrm>
          <a:prstGeom prst="rect">
            <a:avLst/>
          </a:prstGeom>
          <a:noFill/>
        </p:spPr>
        <p:txBody>
          <a:bodyPr wrap="square" lIns="0" rIns="0" tIns="0" bIns="0" anchor="t">
            <a:spAutoFit/>
          </a:bodyPr>
          <a:lstStyle/>
          <a:p>
            <a:pPr algn="l"/>
            <a:r>
              <a:rPr sz="2200" b="1" i="0">
                <a:solidFill>
                  <a:srgbClr val="072A66"/>
                </a:solidFill>
                <a:latin typeface="Calibri"/>
              </a:rPr>
              <a:t>Beacon Lighting</a:t>
            </a:r>
          </a:p>
        </p:txBody>
      </p:sp>
      <p:sp>
        <p:nvSpPr>
          <p:cNvPr id="12" name="TextBox 11"/>
          <p:cNvSpPr txBox="1"/>
          <p:nvPr/>
        </p:nvSpPr>
        <p:spPr>
          <a:xfrm>
            <a:off x="914400" y="3108960"/>
            <a:ext cx="3017520" cy="320040"/>
          </a:xfrm>
          <a:prstGeom prst="rect">
            <a:avLst/>
          </a:prstGeom>
          <a:noFill/>
        </p:spPr>
        <p:txBody>
          <a:bodyPr wrap="square" lIns="0" rIns="0" tIns="0" bIns="0" anchor="t">
            <a:spAutoFit/>
          </a:bodyPr>
          <a:lstStyle/>
          <a:p>
            <a:pPr algn="l"/>
            <a:r>
              <a:rPr sz="1200" b="0" i="1">
                <a:solidFill>
                  <a:srgbClr val="555555"/>
                </a:solidFill>
                <a:latin typeface="Calibri"/>
              </a:rPr>
              <a:t>Specialty Retail · Lighting</a:t>
            </a:r>
          </a:p>
        </p:txBody>
      </p:sp>
      <p:sp>
        <p:nvSpPr>
          <p:cNvPr id="13" name="Rectangle 12"/>
          <p:cNvSpPr/>
          <p:nvPr/>
        </p:nvSpPr>
        <p:spPr>
          <a:xfrm>
            <a:off x="914400" y="3520440"/>
            <a:ext cx="3017520" cy="18288"/>
          </a:xfrm>
          <a:prstGeom prst="rect">
            <a:avLst/>
          </a:prstGeom>
          <a:solidFill>
            <a:srgbClr val="CCD1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703319"/>
            <a:ext cx="3017520" cy="274320"/>
          </a:xfrm>
          <a:prstGeom prst="rect">
            <a:avLst/>
          </a:prstGeom>
          <a:noFill/>
        </p:spPr>
        <p:txBody>
          <a:bodyPr wrap="square" lIns="0" rIns="0" tIns="0" bIns="0" anchor="t">
            <a:spAutoFit/>
          </a:bodyPr>
          <a:lstStyle/>
          <a:p>
            <a:pPr algn="l"/>
            <a:r>
              <a:rPr sz="1000" b="1" i="0">
                <a:solidFill>
                  <a:srgbClr val="E8A317"/>
                </a:solidFill>
                <a:latin typeface="Calibri"/>
              </a:rPr>
              <a:t>FY25 REVENUE</a:t>
            </a:r>
          </a:p>
        </p:txBody>
      </p:sp>
      <p:sp>
        <p:nvSpPr>
          <p:cNvPr id="15" name="TextBox 14"/>
          <p:cNvSpPr txBox="1"/>
          <p:nvPr/>
        </p:nvSpPr>
        <p:spPr>
          <a:xfrm>
            <a:off x="914400" y="4023360"/>
            <a:ext cx="3017520" cy="640080"/>
          </a:xfrm>
          <a:prstGeom prst="rect">
            <a:avLst/>
          </a:prstGeom>
          <a:noFill/>
        </p:spPr>
        <p:txBody>
          <a:bodyPr wrap="square" lIns="0" rIns="0" tIns="0" bIns="0" anchor="t">
            <a:spAutoFit/>
          </a:bodyPr>
          <a:lstStyle/>
          <a:p>
            <a:pPr algn="l"/>
            <a:r>
              <a:rPr sz="3000" b="1" i="0">
                <a:solidFill>
                  <a:srgbClr val="072A66"/>
                </a:solidFill>
                <a:latin typeface="Calibri"/>
              </a:rPr>
              <a:t>A$329.4m</a:t>
            </a:r>
          </a:p>
        </p:txBody>
      </p:sp>
      <p:sp>
        <p:nvSpPr>
          <p:cNvPr id="16" name="TextBox 15"/>
          <p:cNvSpPr txBox="1"/>
          <p:nvPr/>
        </p:nvSpPr>
        <p:spPr>
          <a:xfrm>
            <a:off x="914400" y="4617720"/>
            <a:ext cx="3017520" cy="274320"/>
          </a:xfrm>
          <a:prstGeom prst="rect">
            <a:avLst/>
          </a:prstGeom>
          <a:noFill/>
        </p:spPr>
        <p:txBody>
          <a:bodyPr wrap="square" lIns="0" rIns="0" tIns="0" bIns="0" anchor="t">
            <a:spAutoFit/>
          </a:bodyPr>
          <a:lstStyle/>
          <a:p>
            <a:pPr algn="l"/>
            <a:r>
              <a:rPr sz="1300" b="1" i="0">
                <a:solidFill>
                  <a:srgbClr val="2E7D32"/>
                </a:solidFill>
                <a:latin typeface="Calibri"/>
              </a:rPr>
              <a:t>+1.8% YoY</a:t>
            </a:r>
          </a:p>
        </p:txBody>
      </p:sp>
      <p:sp>
        <p:nvSpPr>
          <p:cNvPr id="17" name="Rectangle 16"/>
          <p:cNvSpPr/>
          <p:nvPr/>
        </p:nvSpPr>
        <p:spPr>
          <a:xfrm>
            <a:off x="914400" y="5349240"/>
            <a:ext cx="3017520" cy="45720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349240"/>
            <a:ext cx="3017520" cy="457200"/>
          </a:xfrm>
          <a:prstGeom prst="rect">
            <a:avLst/>
          </a:prstGeom>
          <a:noFill/>
        </p:spPr>
        <p:txBody>
          <a:bodyPr wrap="square" lIns="0" rIns="0" tIns="0" bIns="0" anchor="ctr">
            <a:spAutoFit/>
          </a:bodyPr>
          <a:lstStyle/>
          <a:p>
            <a:pPr algn="ctr"/>
            <a:r>
              <a:rPr sz="1200" b="1" i="0">
                <a:solidFill>
                  <a:srgbClr val="FFFFFF"/>
                </a:solidFill>
                <a:latin typeface="Calibri"/>
              </a:rPr>
              <a:t>Defensive but capped</a:t>
            </a:r>
          </a:p>
        </p:txBody>
      </p:sp>
      <p:sp>
        <p:nvSpPr>
          <p:cNvPr id="19" name="Rectangle 18"/>
          <p:cNvSpPr/>
          <p:nvPr/>
        </p:nvSpPr>
        <p:spPr>
          <a:xfrm>
            <a:off x="4434840" y="1828800"/>
            <a:ext cx="3566160" cy="42062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34840" y="1828800"/>
            <a:ext cx="3566160" cy="164592"/>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09160" y="2194560"/>
            <a:ext cx="1280160" cy="292608"/>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9160" y="2194560"/>
            <a:ext cx="1280160" cy="292608"/>
          </a:xfrm>
          <a:prstGeom prst="rect">
            <a:avLst/>
          </a:prstGeom>
          <a:noFill/>
        </p:spPr>
        <p:txBody>
          <a:bodyPr wrap="square" lIns="0" rIns="0" tIns="0" bIns="0" anchor="ctr">
            <a:spAutoFit/>
          </a:bodyPr>
          <a:lstStyle/>
          <a:p>
            <a:pPr algn="ctr"/>
            <a:r>
              <a:rPr sz="1100" b="1" i="0">
                <a:solidFill>
                  <a:srgbClr val="FFFFFF"/>
                </a:solidFill>
                <a:latin typeface="Calibri"/>
              </a:rPr>
              <a:t>ASX: FLT</a:t>
            </a:r>
          </a:p>
        </p:txBody>
      </p:sp>
      <p:sp>
        <p:nvSpPr>
          <p:cNvPr id="23" name="TextBox 22"/>
          <p:cNvSpPr txBox="1"/>
          <p:nvPr/>
        </p:nvSpPr>
        <p:spPr>
          <a:xfrm>
            <a:off x="4709160" y="2606040"/>
            <a:ext cx="3017520" cy="457200"/>
          </a:xfrm>
          <a:prstGeom prst="rect">
            <a:avLst/>
          </a:prstGeom>
          <a:noFill/>
        </p:spPr>
        <p:txBody>
          <a:bodyPr wrap="square" lIns="0" rIns="0" tIns="0" bIns="0" anchor="t">
            <a:spAutoFit/>
          </a:bodyPr>
          <a:lstStyle/>
          <a:p>
            <a:pPr algn="l"/>
            <a:r>
              <a:rPr sz="2200" b="1" i="0">
                <a:solidFill>
                  <a:srgbClr val="072A66"/>
                </a:solidFill>
                <a:latin typeface="Calibri"/>
              </a:rPr>
              <a:t>Flight Centre</a:t>
            </a:r>
          </a:p>
        </p:txBody>
      </p:sp>
      <p:sp>
        <p:nvSpPr>
          <p:cNvPr id="24" name="TextBox 23"/>
          <p:cNvSpPr txBox="1"/>
          <p:nvPr/>
        </p:nvSpPr>
        <p:spPr>
          <a:xfrm>
            <a:off x="4709160" y="3108960"/>
            <a:ext cx="3017520" cy="320040"/>
          </a:xfrm>
          <a:prstGeom prst="rect">
            <a:avLst/>
          </a:prstGeom>
          <a:noFill/>
        </p:spPr>
        <p:txBody>
          <a:bodyPr wrap="square" lIns="0" rIns="0" tIns="0" bIns="0" anchor="t">
            <a:spAutoFit/>
          </a:bodyPr>
          <a:lstStyle/>
          <a:p>
            <a:pPr algn="l"/>
            <a:r>
              <a:rPr sz="1200" b="0" i="1">
                <a:solidFill>
                  <a:srgbClr val="555555"/>
                </a:solidFill>
                <a:latin typeface="Calibri"/>
              </a:rPr>
              <a:t>Travel · Corporate + Leisure</a:t>
            </a:r>
          </a:p>
        </p:txBody>
      </p:sp>
      <p:sp>
        <p:nvSpPr>
          <p:cNvPr id="25" name="Rectangle 24"/>
          <p:cNvSpPr/>
          <p:nvPr/>
        </p:nvSpPr>
        <p:spPr>
          <a:xfrm>
            <a:off x="4709160" y="3520440"/>
            <a:ext cx="3017520" cy="18288"/>
          </a:xfrm>
          <a:prstGeom prst="rect">
            <a:avLst/>
          </a:prstGeom>
          <a:solidFill>
            <a:srgbClr val="CCD1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09160" y="3703319"/>
            <a:ext cx="3017520" cy="274320"/>
          </a:xfrm>
          <a:prstGeom prst="rect">
            <a:avLst/>
          </a:prstGeom>
          <a:noFill/>
        </p:spPr>
        <p:txBody>
          <a:bodyPr wrap="square" lIns="0" rIns="0" tIns="0" bIns="0" anchor="t">
            <a:spAutoFit/>
          </a:bodyPr>
          <a:lstStyle/>
          <a:p>
            <a:pPr algn="l"/>
            <a:r>
              <a:rPr sz="1000" b="1" i="0">
                <a:solidFill>
                  <a:srgbClr val="E8A317"/>
                </a:solidFill>
                <a:latin typeface="Calibri"/>
              </a:rPr>
              <a:t>FY25 REVENUE</a:t>
            </a:r>
          </a:p>
        </p:txBody>
      </p:sp>
      <p:sp>
        <p:nvSpPr>
          <p:cNvPr id="27" name="TextBox 26"/>
          <p:cNvSpPr txBox="1"/>
          <p:nvPr/>
        </p:nvSpPr>
        <p:spPr>
          <a:xfrm>
            <a:off x="4709160" y="4023360"/>
            <a:ext cx="3017520" cy="640080"/>
          </a:xfrm>
          <a:prstGeom prst="rect">
            <a:avLst/>
          </a:prstGeom>
          <a:noFill/>
        </p:spPr>
        <p:txBody>
          <a:bodyPr wrap="square" lIns="0" rIns="0" tIns="0" bIns="0" anchor="t">
            <a:spAutoFit/>
          </a:bodyPr>
          <a:lstStyle/>
          <a:p>
            <a:pPr algn="l"/>
            <a:r>
              <a:rPr sz="3000" b="1" i="0">
                <a:solidFill>
                  <a:srgbClr val="072A66"/>
                </a:solidFill>
                <a:latin typeface="Calibri"/>
              </a:rPr>
              <a:t>A$24.5bn TTV</a:t>
            </a:r>
          </a:p>
        </p:txBody>
      </p:sp>
      <p:sp>
        <p:nvSpPr>
          <p:cNvPr id="28" name="TextBox 27"/>
          <p:cNvSpPr txBox="1"/>
          <p:nvPr/>
        </p:nvSpPr>
        <p:spPr>
          <a:xfrm>
            <a:off x="4709160" y="4617720"/>
            <a:ext cx="3017520" cy="274320"/>
          </a:xfrm>
          <a:prstGeom prst="rect">
            <a:avLst/>
          </a:prstGeom>
          <a:noFill/>
        </p:spPr>
        <p:txBody>
          <a:bodyPr wrap="square" lIns="0" rIns="0" tIns="0" bIns="0" anchor="t">
            <a:spAutoFit/>
          </a:bodyPr>
          <a:lstStyle/>
          <a:p>
            <a:pPr algn="l"/>
            <a:r>
              <a:rPr sz="1300" b="1" i="0">
                <a:solidFill>
                  <a:srgbClr val="2E7D32"/>
                </a:solidFill>
                <a:latin typeface="Calibri"/>
              </a:rPr>
              <a:t>+3% YoY</a:t>
            </a:r>
          </a:p>
        </p:txBody>
      </p:sp>
      <p:sp>
        <p:nvSpPr>
          <p:cNvPr id="29" name="Rectangle 28"/>
          <p:cNvSpPr/>
          <p:nvPr/>
        </p:nvSpPr>
        <p:spPr>
          <a:xfrm>
            <a:off x="4709160" y="5349240"/>
            <a:ext cx="3017520" cy="457200"/>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09160" y="5349240"/>
            <a:ext cx="3017520" cy="457200"/>
          </a:xfrm>
          <a:prstGeom prst="rect">
            <a:avLst/>
          </a:prstGeom>
          <a:noFill/>
        </p:spPr>
        <p:txBody>
          <a:bodyPr wrap="square" lIns="0" rIns="0" tIns="0" bIns="0" anchor="ctr">
            <a:spAutoFit/>
          </a:bodyPr>
          <a:lstStyle/>
          <a:p>
            <a:pPr algn="ctr"/>
            <a:r>
              <a:rPr sz="1200" b="1" i="0">
                <a:solidFill>
                  <a:srgbClr val="FFFFFF"/>
                </a:solidFill>
                <a:latin typeface="Calibri"/>
              </a:rPr>
              <a:t>Recovery, unresolved margin</a:t>
            </a:r>
          </a:p>
        </p:txBody>
      </p:sp>
      <p:sp>
        <p:nvSpPr>
          <p:cNvPr id="31" name="Rectangle 30"/>
          <p:cNvSpPr/>
          <p:nvPr/>
        </p:nvSpPr>
        <p:spPr>
          <a:xfrm>
            <a:off x="8229600" y="1828800"/>
            <a:ext cx="3566160" cy="42062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600" y="1828800"/>
            <a:ext cx="3566160" cy="164592"/>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503920" y="2194560"/>
            <a:ext cx="1280160" cy="292608"/>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03920" y="2194560"/>
            <a:ext cx="1280160" cy="292608"/>
          </a:xfrm>
          <a:prstGeom prst="rect">
            <a:avLst/>
          </a:prstGeom>
          <a:noFill/>
        </p:spPr>
        <p:txBody>
          <a:bodyPr wrap="square" lIns="0" rIns="0" tIns="0" bIns="0" anchor="ctr">
            <a:spAutoFit/>
          </a:bodyPr>
          <a:lstStyle/>
          <a:p>
            <a:pPr algn="ctr"/>
            <a:r>
              <a:rPr sz="1100" b="1" i="0">
                <a:solidFill>
                  <a:srgbClr val="FFFFFF"/>
                </a:solidFill>
                <a:latin typeface="Calibri"/>
              </a:rPr>
              <a:t>ASX: NXT</a:t>
            </a:r>
          </a:p>
        </p:txBody>
      </p:sp>
      <p:sp>
        <p:nvSpPr>
          <p:cNvPr id="35" name="TextBox 34"/>
          <p:cNvSpPr txBox="1"/>
          <p:nvPr/>
        </p:nvSpPr>
        <p:spPr>
          <a:xfrm>
            <a:off x="8503920" y="2606040"/>
            <a:ext cx="3017520" cy="457200"/>
          </a:xfrm>
          <a:prstGeom prst="rect">
            <a:avLst/>
          </a:prstGeom>
          <a:noFill/>
        </p:spPr>
        <p:txBody>
          <a:bodyPr wrap="square" lIns="0" rIns="0" tIns="0" bIns="0" anchor="t">
            <a:spAutoFit/>
          </a:bodyPr>
          <a:lstStyle/>
          <a:p>
            <a:pPr algn="l"/>
            <a:r>
              <a:rPr sz="2200" b="1" i="0">
                <a:solidFill>
                  <a:srgbClr val="072A66"/>
                </a:solidFill>
                <a:latin typeface="Calibri"/>
              </a:rPr>
              <a:t>NextDC</a:t>
            </a:r>
          </a:p>
        </p:txBody>
      </p:sp>
      <p:sp>
        <p:nvSpPr>
          <p:cNvPr id="36" name="TextBox 35"/>
          <p:cNvSpPr txBox="1"/>
          <p:nvPr/>
        </p:nvSpPr>
        <p:spPr>
          <a:xfrm>
            <a:off x="8503920" y="3108960"/>
            <a:ext cx="3017520" cy="320040"/>
          </a:xfrm>
          <a:prstGeom prst="rect">
            <a:avLst/>
          </a:prstGeom>
          <a:noFill/>
        </p:spPr>
        <p:txBody>
          <a:bodyPr wrap="square" lIns="0" rIns="0" tIns="0" bIns="0" anchor="t">
            <a:spAutoFit/>
          </a:bodyPr>
          <a:lstStyle/>
          <a:p>
            <a:pPr algn="l"/>
            <a:r>
              <a:rPr sz="1200" b="0" i="1">
                <a:solidFill>
                  <a:srgbClr val="555555"/>
                </a:solidFill>
                <a:latin typeface="Calibri"/>
              </a:rPr>
              <a:t>Digital Infrastructure · Data Centres</a:t>
            </a:r>
          </a:p>
        </p:txBody>
      </p:sp>
      <p:sp>
        <p:nvSpPr>
          <p:cNvPr id="37" name="Rectangle 36"/>
          <p:cNvSpPr/>
          <p:nvPr/>
        </p:nvSpPr>
        <p:spPr>
          <a:xfrm>
            <a:off x="8503920" y="3520440"/>
            <a:ext cx="3017520" cy="18288"/>
          </a:xfrm>
          <a:prstGeom prst="rect">
            <a:avLst/>
          </a:prstGeom>
          <a:solidFill>
            <a:srgbClr val="CCD1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503920" y="3703319"/>
            <a:ext cx="3017520" cy="274320"/>
          </a:xfrm>
          <a:prstGeom prst="rect">
            <a:avLst/>
          </a:prstGeom>
          <a:noFill/>
        </p:spPr>
        <p:txBody>
          <a:bodyPr wrap="square" lIns="0" rIns="0" tIns="0" bIns="0" anchor="t">
            <a:spAutoFit/>
          </a:bodyPr>
          <a:lstStyle/>
          <a:p>
            <a:pPr algn="l"/>
            <a:r>
              <a:rPr sz="1000" b="1" i="0">
                <a:solidFill>
                  <a:srgbClr val="E8A317"/>
                </a:solidFill>
                <a:latin typeface="Calibri"/>
              </a:rPr>
              <a:t>FY25 REVENUE</a:t>
            </a:r>
          </a:p>
        </p:txBody>
      </p:sp>
      <p:sp>
        <p:nvSpPr>
          <p:cNvPr id="39" name="TextBox 38"/>
          <p:cNvSpPr txBox="1"/>
          <p:nvPr/>
        </p:nvSpPr>
        <p:spPr>
          <a:xfrm>
            <a:off x="8503920" y="4023360"/>
            <a:ext cx="3017520" cy="640080"/>
          </a:xfrm>
          <a:prstGeom prst="rect">
            <a:avLst/>
          </a:prstGeom>
          <a:noFill/>
        </p:spPr>
        <p:txBody>
          <a:bodyPr wrap="square" lIns="0" rIns="0" tIns="0" bIns="0" anchor="t">
            <a:spAutoFit/>
          </a:bodyPr>
          <a:lstStyle/>
          <a:p>
            <a:pPr algn="l"/>
            <a:r>
              <a:rPr sz="3000" b="1" i="0">
                <a:solidFill>
                  <a:srgbClr val="072A66"/>
                </a:solidFill>
                <a:latin typeface="Calibri"/>
              </a:rPr>
              <a:t>A$350.2m</a:t>
            </a:r>
          </a:p>
        </p:txBody>
      </p:sp>
      <p:sp>
        <p:nvSpPr>
          <p:cNvPr id="40" name="TextBox 39"/>
          <p:cNvSpPr txBox="1"/>
          <p:nvPr/>
        </p:nvSpPr>
        <p:spPr>
          <a:xfrm>
            <a:off x="8503920" y="4617720"/>
            <a:ext cx="3017520" cy="274320"/>
          </a:xfrm>
          <a:prstGeom prst="rect">
            <a:avLst/>
          </a:prstGeom>
          <a:noFill/>
        </p:spPr>
        <p:txBody>
          <a:bodyPr wrap="square" lIns="0" rIns="0" tIns="0" bIns="0" anchor="t">
            <a:spAutoFit/>
          </a:bodyPr>
          <a:lstStyle/>
          <a:p>
            <a:pPr algn="l"/>
            <a:r>
              <a:rPr sz="1300" b="1" i="0">
                <a:solidFill>
                  <a:srgbClr val="2E7D32"/>
                </a:solidFill>
                <a:latin typeface="Calibri"/>
              </a:rPr>
              <a:t>+14% YoY</a:t>
            </a:r>
          </a:p>
        </p:txBody>
      </p:sp>
      <p:sp>
        <p:nvSpPr>
          <p:cNvPr id="41" name="Rectangle 40"/>
          <p:cNvSpPr/>
          <p:nvPr/>
        </p:nvSpPr>
        <p:spPr>
          <a:xfrm>
            <a:off x="8503920" y="5349240"/>
            <a:ext cx="3017520"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03920" y="5349240"/>
            <a:ext cx="3017520" cy="457200"/>
          </a:xfrm>
          <a:prstGeom prst="rect">
            <a:avLst/>
          </a:prstGeom>
          <a:noFill/>
        </p:spPr>
        <p:txBody>
          <a:bodyPr wrap="square" lIns="0" rIns="0" tIns="0" bIns="0" anchor="ctr">
            <a:spAutoFit/>
          </a:bodyPr>
          <a:lstStyle/>
          <a:p>
            <a:pPr algn="ctr"/>
            <a:r>
              <a:rPr sz="1200" b="1" i="0">
                <a:solidFill>
                  <a:srgbClr val="FFFFFF"/>
                </a:solidFill>
                <a:latin typeface="Calibri"/>
              </a:rPr>
              <a:t>Our pick — structural growth</a:t>
            </a:r>
          </a:p>
        </p:txBody>
      </p:sp>
      <p:sp>
        <p:nvSpPr>
          <p:cNvPr id="43" name="Rectangle 42"/>
          <p:cNvSpPr/>
          <p:nvPr/>
        </p:nvSpPr>
        <p:spPr>
          <a:xfrm>
            <a:off x="0" y="6565392"/>
            <a:ext cx="12191695" cy="292608"/>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6601968"/>
            <a:ext cx="8229600" cy="256032"/>
          </a:xfrm>
          <a:prstGeom prst="rect">
            <a:avLst/>
          </a:prstGeom>
          <a:noFill/>
        </p:spPr>
        <p:txBody>
          <a:bodyPr wrap="square" lIns="0" rIns="0" tIns="0" bIns="0" anchor="ctr">
            <a:spAutoFit/>
          </a:bodyPr>
          <a:lstStyle/>
          <a:p>
            <a:pPr algn="l"/>
            <a:r>
              <a:rPr sz="1000" b="0" i="0">
                <a:solidFill>
                  <a:srgbClr val="FFFFFF"/>
                </a:solidFill>
                <a:latin typeface="Calibri"/>
              </a:rPr>
              <a:t>BEX3000 · Investment Recommendation  ·  Speaker 1</a:t>
            </a:r>
          </a:p>
        </p:txBody>
      </p:sp>
      <p:sp>
        <p:nvSpPr>
          <p:cNvPr id="45" name="TextBox 44"/>
          <p:cNvSpPr txBox="1"/>
          <p:nvPr/>
        </p:nvSpPr>
        <p:spPr>
          <a:xfrm>
            <a:off x="10515600" y="6601968"/>
            <a:ext cx="1280160" cy="256032"/>
          </a:xfrm>
          <a:prstGeom prst="rect">
            <a:avLst/>
          </a:prstGeom>
          <a:noFill/>
        </p:spPr>
        <p:txBody>
          <a:bodyPr wrap="square" lIns="0" rIns="0" tIns="0" bIns="0" anchor="ctr">
            <a:spAutoFit/>
          </a:bodyPr>
          <a:lstStyle/>
          <a:p>
            <a:pPr algn="r"/>
            <a:r>
              <a:rPr sz="1000" b="0" i="0">
                <a:solidFill>
                  <a:srgbClr val="FFFFFF"/>
                </a:solidFill>
                <a:latin typeface="Calibri"/>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274320"/>
          </a:xfrm>
          <a:prstGeom prst="rect">
            <a:avLst/>
          </a:prstGeom>
          <a:noFill/>
        </p:spPr>
        <p:txBody>
          <a:bodyPr wrap="square" lIns="0" rIns="0" tIns="0" bIns="0" anchor="t">
            <a:spAutoFit/>
          </a:bodyPr>
          <a:lstStyle/>
          <a:p>
            <a:pPr algn="l"/>
            <a:r>
              <a:rPr sz="1100" b="1" i="0">
                <a:solidFill>
                  <a:srgbClr val="E8A317"/>
                </a:solidFill>
                <a:latin typeface="Calibri"/>
              </a:rPr>
              <a:t>02 · WHY NOT</a:t>
            </a:r>
          </a:p>
        </p:txBody>
      </p:sp>
      <p:sp>
        <p:nvSpPr>
          <p:cNvPr id="5" name="Rectangle 4"/>
          <p:cNvSpPr/>
          <p:nvPr/>
        </p:nvSpPr>
        <p:spPr>
          <a:xfrm>
            <a:off x="411480" y="914400"/>
            <a:ext cx="73152" cy="50292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868680"/>
            <a:ext cx="10972800" cy="640080"/>
          </a:xfrm>
          <a:prstGeom prst="rect">
            <a:avLst/>
          </a:prstGeom>
          <a:noFill/>
        </p:spPr>
        <p:txBody>
          <a:bodyPr wrap="square" lIns="0" rIns="0" tIns="0" bIns="0" anchor="t">
            <a:spAutoFit/>
          </a:bodyPr>
          <a:lstStyle/>
          <a:p>
            <a:pPr algn="l"/>
            <a:r>
              <a:rPr sz="3000" b="1" i="0">
                <a:solidFill>
                  <a:srgbClr val="072A66"/>
                </a:solidFill>
                <a:latin typeface="Calibri"/>
              </a:rPr>
              <a:t>Beacon Lighting — defensive but capped</a:t>
            </a:r>
          </a:p>
        </p:txBody>
      </p:sp>
      <p:sp>
        <p:nvSpPr>
          <p:cNvPr id="7" name="TextBox 6"/>
          <p:cNvSpPr txBox="1"/>
          <p:nvPr/>
        </p:nvSpPr>
        <p:spPr>
          <a:xfrm>
            <a:off x="640080" y="1920240"/>
            <a:ext cx="6858000" cy="4206240"/>
          </a:xfrm>
          <a:prstGeom prst="rect">
            <a:avLst/>
          </a:prstGeom>
          <a:noFill/>
        </p:spPr>
        <p:txBody>
          <a:bodyPr wrap="square" lIns="0" rIns="0" tIns="0" bIns="0">
            <a:spAutoFit/>
          </a:bodyPr>
          <a:lstStyle/>
          <a:p>
            <a:pPr algn="l">
              <a:lnSpc>
                <a:spcPct val="115000"/>
              </a:lnSpc>
            </a:pPr>
            <a:r>
              <a:rPr sz="1200" b="1" i="0">
                <a:solidFill>
                  <a:srgbClr val="E8A317"/>
                </a:solidFill>
                <a:latin typeface="Calibri"/>
              </a:rPr>
              <a:t>STRATEGY</a:t>
            </a:r>
          </a:p>
          <a:p>
            <a:pPr algn="l">
              <a:lnSpc>
                <a:spcPct val="115000"/>
              </a:lnSpc>
              <a:spcBef>
                <a:spcPts val="200"/>
              </a:spcBef>
            </a:pPr>
            <a:r>
              <a:rPr sz="1400" b="0" i="0">
                <a:solidFill>
                  <a:srgbClr val="2A2A2A"/>
                </a:solidFill>
                <a:latin typeface="Calibri"/>
              </a:rPr>
              <a:t>Growth bound to Australian dwelling construction and renovation; elevated mortgage rates have suppressed both drivers since 2024. Recent moves (US Home Depot distribution, AI inventory forecasting) are sensible but slow-compounding.</a:t>
            </a:r>
          </a:p>
          <a:p>
            <a:pPr algn="l">
              <a:lnSpc>
                <a:spcPct val="115000"/>
              </a:lnSpc>
              <a:spcBef>
                <a:spcPts val="1200"/>
              </a:spcBef>
            </a:pPr>
            <a:r>
              <a:rPr sz="1200" b="1" i="0">
                <a:solidFill>
                  <a:srgbClr val="E8A317"/>
                </a:solidFill>
                <a:latin typeface="Calibri"/>
              </a:rPr>
              <a:t>FINANCE</a:t>
            </a:r>
          </a:p>
          <a:p>
            <a:pPr algn="l">
              <a:lnSpc>
                <a:spcPct val="115000"/>
              </a:lnSpc>
              <a:spcBef>
                <a:spcPts val="200"/>
              </a:spcBef>
            </a:pPr>
            <a:r>
              <a:rPr sz="1400" b="0" i="0">
                <a:solidFill>
                  <a:srgbClr val="2A2A2A"/>
                </a:solidFill>
                <a:latin typeface="Calibri"/>
              </a:rPr>
              <a:t>Revenue +1.8% to A$329.4m; NPAT –2.4% to A$29.4m on freight and energy margin compression. Dividend maintained (~62% payout) but D/E at 61.2% caps flexibility.</a:t>
            </a:r>
          </a:p>
          <a:p>
            <a:pPr algn="l">
              <a:lnSpc>
                <a:spcPct val="115000"/>
              </a:lnSpc>
              <a:spcBef>
                <a:spcPts val="1200"/>
              </a:spcBef>
            </a:pPr>
            <a:r>
              <a:rPr sz="1200" b="1" i="0">
                <a:solidFill>
                  <a:srgbClr val="E8A317"/>
                </a:solidFill>
                <a:latin typeface="Calibri"/>
              </a:rPr>
              <a:t>OUR VERDICT</a:t>
            </a:r>
          </a:p>
          <a:p>
            <a:pPr algn="l">
              <a:lnSpc>
                <a:spcPct val="115000"/>
              </a:lnSpc>
              <a:spcBef>
                <a:spcPts val="200"/>
              </a:spcBef>
            </a:pPr>
            <a:r>
              <a:rPr sz="1400" b="1" i="1">
                <a:solidFill>
                  <a:srgbClr val="072A66"/>
                </a:solidFill>
                <a:latin typeface="Calibri"/>
              </a:rPr>
              <a:t>Solid defensive holding. No 12–24 month re-rating catalyst — upside is capped, downside contained by dividend support.</a:t>
            </a:r>
          </a:p>
        </p:txBody>
      </p:sp>
      <p:sp>
        <p:nvSpPr>
          <p:cNvPr id="8" name="Rectangle 7"/>
          <p:cNvSpPr/>
          <p:nvPr/>
        </p:nvSpPr>
        <p:spPr>
          <a:xfrm>
            <a:off x="7863840" y="1920240"/>
            <a:ext cx="3749039" cy="42062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2103120"/>
            <a:ext cx="3200399" cy="274320"/>
          </a:xfrm>
          <a:prstGeom prst="rect">
            <a:avLst/>
          </a:prstGeom>
          <a:noFill/>
        </p:spPr>
        <p:txBody>
          <a:bodyPr wrap="square" lIns="0" rIns="0" tIns="0" bIns="0" anchor="t">
            <a:spAutoFit/>
          </a:bodyPr>
          <a:lstStyle/>
          <a:p>
            <a:pPr algn="l"/>
            <a:r>
              <a:rPr sz="1100" b="1" i="0">
                <a:solidFill>
                  <a:srgbClr val="E8A317"/>
                </a:solidFill>
                <a:latin typeface="Calibri"/>
              </a:rPr>
              <a:t>KEY FY25 METRICS</a:t>
            </a:r>
          </a:p>
        </p:txBody>
      </p:sp>
      <p:sp>
        <p:nvSpPr>
          <p:cNvPr id="10" name="TextBox 9"/>
          <p:cNvSpPr txBox="1"/>
          <p:nvPr/>
        </p:nvSpPr>
        <p:spPr>
          <a:xfrm>
            <a:off x="8138160" y="2514600"/>
            <a:ext cx="3200399" cy="274320"/>
          </a:xfrm>
          <a:prstGeom prst="rect">
            <a:avLst/>
          </a:prstGeom>
          <a:noFill/>
        </p:spPr>
        <p:txBody>
          <a:bodyPr wrap="square" lIns="0" rIns="0" tIns="0" bIns="0" anchor="t">
            <a:spAutoFit/>
          </a:bodyPr>
          <a:lstStyle/>
          <a:p>
            <a:pPr algn="l"/>
            <a:r>
              <a:rPr sz="1000" b="0" i="0">
                <a:solidFill>
                  <a:srgbClr val="FFFFFF"/>
                </a:solidFill>
                <a:latin typeface="Calibri"/>
              </a:rPr>
              <a:t>REVENUE</a:t>
            </a:r>
          </a:p>
        </p:txBody>
      </p:sp>
      <p:sp>
        <p:nvSpPr>
          <p:cNvPr id="11" name="TextBox 10"/>
          <p:cNvSpPr txBox="1"/>
          <p:nvPr/>
        </p:nvSpPr>
        <p:spPr>
          <a:xfrm>
            <a:off x="8138160" y="2788920"/>
            <a:ext cx="3200399" cy="457200"/>
          </a:xfrm>
          <a:prstGeom prst="rect">
            <a:avLst/>
          </a:prstGeom>
          <a:noFill/>
        </p:spPr>
        <p:txBody>
          <a:bodyPr wrap="square" lIns="0" rIns="0" tIns="0" bIns="0" anchor="t">
            <a:spAutoFit/>
          </a:bodyPr>
          <a:lstStyle/>
          <a:p>
            <a:pPr algn="l"/>
            <a:r>
              <a:rPr sz="2200" b="1" i="0">
                <a:solidFill>
                  <a:srgbClr val="FFFFFF"/>
                </a:solidFill>
                <a:latin typeface="Calibri"/>
              </a:rPr>
              <a:t>A$329.4m</a:t>
            </a:r>
          </a:p>
        </p:txBody>
      </p:sp>
      <p:sp>
        <p:nvSpPr>
          <p:cNvPr id="12" name="TextBox 11"/>
          <p:cNvSpPr txBox="1"/>
          <p:nvPr/>
        </p:nvSpPr>
        <p:spPr>
          <a:xfrm>
            <a:off x="8138160" y="3227832"/>
            <a:ext cx="3200399" cy="274320"/>
          </a:xfrm>
          <a:prstGeom prst="rect">
            <a:avLst/>
          </a:prstGeom>
          <a:noFill/>
        </p:spPr>
        <p:txBody>
          <a:bodyPr wrap="square" lIns="0" rIns="0" tIns="0" bIns="0" anchor="t">
            <a:spAutoFit/>
          </a:bodyPr>
          <a:lstStyle/>
          <a:p>
            <a:pPr algn="l"/>
            <a:r>
              <a:rPr sz="1100" b="0" i="1">
                <a:solidFill>
                  <a:srgbClr val="E8A317"/>
                </a:solidFill>
                <a:latin typeface="Calibri"/>
              </a:rPr>
              <a:t>+1.8% YoY</a:t>
            </a:r>
          </a:p>
        </p:txBody>
      </p:sp>
      <p:sp>
        <p:nvSpPr>
          <p:cNvPr id="13" name="TextBox 12"/>
          <p:cNvSpPr txBox="1"/>
          <p:nvPr/>
        </p:nvSpPr>
        <p:spPr>
          <a:xfrm>
            <a:off x="8138160" y="3566160"/>
            <a:ext cx="3200399" cy="274320"/>
          </a:xfrm>
          <a:prstGeom prst="rect">
            <a:avLst/>
          </a:prstGeom>
          <a:noFill/>
        </p:spPr>
        <p:txBody>
          <a:bodyPr wrap="square" lIns="0" rIns="0" tIns="0" bIns="0" anchor="t">
            <a:spAutoFit/>
          </a:bodyPr>
          <a:lstStyle/>
          <a:p>
            <a:pPr algn="l"/>
            <a:r>
              <a:rPr sz="1000" b="0" i="0">
                <a:solidFill>
                  <a:srgbClr val="FFFFFF"/>
                </a:solidFill>
                <a:latin typeface="Calibri"/>
              </a:rPr>
              <a:t>NPAT</a:t>
            </a:r>
          </a:p>
        </p:txBody>
      </p:sp>
      <p:sp>
        <p:nvSpPr>
          <p:cNvPr id="14" name="TextBox 13"/>
          <p:cNvSpPr txBox="1"/>
          <p:nvPr/>
        </p:nvSpPr>
        <p:spPr>
          <a:xfrm>
            <a:off x="8138160" y="3840480"/>
            <a:ext cx="3200399" cy="457200"/>
          </a:xfrm>
          <a:prstGeom prst="rect">
            <a:avLst/>
          </a:prstGeom>
          <a:noFill/>
        </p:spPr>
        <p:txBody>
          <a:bodyPr wrap="square" lIns="0" rIns="0" tIns="0" bIns="0" anchor="t">
            <a:spAutoFit/>
          </a:bodyPr>
          <a:lstStyle/>
          <a:p>
            <a:pPr algn="l"/>
            <a:r>
              <a:rPr sz="2200" b="1" i="0">
                <a:solidFill>
                  <a:srgbClr val="FFFFFF"/>
                </a:solidFill>
                <a:latin typeface="Calibri"/>
              </a:rPr>
              <a:t>A$29.4m</a:t>
            </a:r>
          </a:p>
        </p:txBody>
      </p:sp>
      <p:sp>
        <p:nvSpPr>
          <p:cNvPr id="15" name="TextBox 14"/>
          <p:cNvSpPr txBox="1"/>
          <p:nvPr/>
        </p:nvSpPr>
        <p:spPr>
          <a:xfrm>
            <a:off x="8138160" y="4279392"/>
            <a:ext cx="3200399" cy="274320"/>
          </a:xfrm>
          <a:prstGeom prst="rect">
            <a:avLst/>
          </a:prstGeom>
          <a:noFill/>
        </p:spPr>
        <p:txBody>
          <a:bodyPr wrap="square" lIns="0" rIns="0" tIns="0" bIns="0" anchor="t">
            <a:spAutoFit/>
          </a:bodyPr>
          <a:lstStyle/>
          <a:p>
            <a:pPr algn="l"/>
            <a:r>
              <a:rPr sz="1100" b="0" i="1">
                <a:solidFill>
                  <a:srgbClr val="E8A317"/>
                </a:solidFill>
                <a:latin typeface="Calibri"/>
              </a:rPr>
              <a:t>–2.4% YoY</a:t>
            </a:r>
          </a:p>
        </p:txBody>
      </p:sp>
      <p:sp>
        <p:nvSpPr>
          <p:cNvPr id="16" name="TextBox 15"/>
          <p:cNvSpPr txBox="1"/>
          <p:nvPr/>
        </p:nvSpPr>
        <p:spPr>
          <a:xfrm>
            <a:off x="8138160" y="4617720"/>
            <a:ext cx="3200399" cy="274320"/>
          </a:xfrm>
          <a:prstGeom prst="rect">
            <a:avLst/>
          </a:prstGeom>
          <a:noFill/>
        </p:spPr>
        <p:txBody>
          <a:bodyPr wrap="square" lIns="0" rIns="0" tIns="0" bIns="0" anchor="t">
            <a:spAutoFit/>
          </a:bodyPr>
          <a:lstStyle/>
          <a:p>
            <a:pPr algn="l"/>
            <a:r>
              <a:rPr sz="1000" b="0" i="0">
                <a:solidFill>
                  <a:srgbClr val="FFFFFF"/>
                </a:solidFill>
                <a:latin typeface="Calibri"/>
              </a:rPr>
              <a:t>DEBT-TO-EQUITY</a:t>
            </a:r>
          </a:p>
        </p:txBody>
      </p:sp>
      <p:sp>
        <p:nvSpPr>
          <p:cNvPr id="17" name="TextBox 16"/>
          <p:cNvSpPr txBox="1"/>
          <p:nvPr/>
        </p:nvSpPr>
        <p:spPr>
          <a:xfrm>
            <a:off x="8138160" y="4892040"/>
            <a:ext cx="3200399" cy="457200"/>
          </a:xfrm>
          <a:prstGeom prst="rect">
            <a:avLst/>
          </a:prstGeom>
          <a:noFill/>
        </p:spPr>
        <p:txBody>
          <a:bodyPr wrap="square" lIns="0" rIns="0" tIns="0" bIns="0" anchor="t">
            <a:spAutoFit/>
          </a:bodyPr>
          <a:lstStyle/>
          <a:p>
            <a:pPr algn="l"/>
            <a:r>
              <a:rPr sz="2200" b="1" i="0">
                <a:solidFill>
                  <a:srgbClr val="FFFFFF"/>
                </a:solidFill>
                <a:latin typeface="Calibri"/>
              </a:rPr>
              <a:t>61.2%</a:t>
            </a:r>
          </a:p>
        </p:txBody>
      </p:sp>
      <p:sp>
        <p:nvSpPr>
          <p:cNvPr id="18" name="TextBox 17"/>
          <p:cNvSpPr txBox="1"/>
          <p:nvPr/>
        </p:nvSpPr>
        <p:spPr>
          <a:xfrm>
            <a:off x="8138160" y="5330952"/>
            <a:ext cx="3200399" cy="274320"/>
          </a:xfrm>
          <a:prstGeom prst="rect">
            <a:avLst/>
          </a:prstGeom>
          <a:noFill/>
        </p:spPr>
        <p:txBody>
          <a:bodyPr wrap="square" lIns="0" rIns="0" tIns="0" bIns="0" anchor="t">
            <a:spAutoFit/>
          </a:bodyPr>
          <a:lstStyle/>
          <a:p>
            <a:pPr algn="l"/>
            <a:r>
              <a:rPr sz="1100" b="0" i="1">
                <a:solidFill>
                  <a:srgbClr val="E8A317"/>
                </a:solidFill>
                <a:latin typeface="Calibri"/>
              </a:rPr>
              <a:t>elevated for retail</a:t>
            </a:r>
          </a:p>
        </p:txBody>
      </p:sp>
      <p:sp>
        <p:nvSpPr>
          <p:cNvPr id="19" name="TextBox 18"/>
          <p:cNvSpPr txBox="1"/>
          <p:nvPr/>
        </p:nvSpPr>
        <p:spPr>
          <a:xfrm>
            <a:off x="8138160" y="5669280"/>
            <a:ext cx="3200399" cy="274320"/>
          </a:xfrm>
          <a:prstGeom prst="rect">
            <a:avLst/>
          </a:prstGeom>
          <a:noFill/>
        </p:spPr>
        <p:txBody>
          <a:bodyPr wrap="square" lIns="0" rIns="0" tIns="0" bIns="0" anchor="t">
            <a:spAutoFit/>
          </a:bodyPr>
          <a:lstStyle/>
          <a:p>
            <a:pPr algn="l"/>
            <a:r>
              <a:rPr sz="1000" b="0" i="0">
                <a:solidFill>
                  <a:srgbClr val="FFFFFF"/>
                </a:solidFill>
                <a:latin typeface="Calibri"/>
              </a:rPr>
              <a:t>FY26 REV FCST</a:t>
            </a:r>
          </a:p>
        </p:txBody>
      </p:sp>
      <p:sp>
        <p:nvSpPr>
          <p:cNvPr id="20" name="TextBox 19"/>
          <p:cNvSpPr txBox="1"/>
          <p:nvPr/>
        </p:nvSpPr>
        <p:spPr>
          <a:xfrm>
            <a:off x="8138160" y="5943600"/>
            <a:ext cx="3200399" cy="457200"/>
          </a:xfrm>
          <a:prstGeom prst="rect">
            <a:avLst/>
          </a:prstGeom>
          <a:noFill/>
        </p:spPr>
        <p:txBody>
          <a:bodyPr wrap="square" lIns="0" rIns="0" tIns="0" bIns="0" anchor="t">
            <a:spAutoFit/>
          </a:bodyPr>
          <a:lstStyle/>
          <a:p>
            <a:pPr algn="l"/>
            <a:r>
              <a:rPr sz="2200" b="1" i="0">
                <a:solidFill>
                  <a:srgbClr val="FFFFFF"/>
                </a:solidFill>
                <a:latin typeface="Calibri"/>
              </a:rPr>
              <a:t>A$349.5m</a:t>
            </a:r>
          </a:p>
        </p:txBody>
      </p:sp>
      <p:sp>
        <p:nvSpPr>
          <p:cNvPr id="21" name="TextBox 20"/>
          <p:cNvSpPr txBox="1"/>
          <p:nvPr/>
        </p:nvSpPr>
        <p:spPr>
          <a:xfrm>
            <a:off x="8138160" y="6382512"/>
            <a:ext cx="3200399" cy="274320"/>
          </a:xfrm>
          <a:prstGeom prst="rect">
            <a:avLst/>
          </a:prstGeom>
          <a:noFill/>
        </p:spPr>
        <p:txBody>
          <a:bodyPr wrap="square" lIns="0" rIns="0" tIns="0" bIns="0" anchor="t">
            <a:spAutoFit/>
          </a:bodyPr>
          <a:lstStyle/>
          <a:p>
            <a:pPr algn="l"/>
            <a:r>
              <a:rPr sz="1100" b="0" i="1">
                <a:solidFill>
                  <a:srgbClr val="E8A317"/>
                </a:solidFill>
                <a:latin typeface="Calibri"/>
              </a:rPr>
              <a:t>+6.1% consensus</a:t>
            </a:r>
          </a:p>
        </p:txBody>
      </p:sp>
      <p:sp>
        <p:nvSpPr>
          <p:cNvPr id="22" name="Rectangle 21"/>
          <p:cNvSpPr/>
          <p:nvPr/>
        </p:nvSpPr>
        <p:spPr>
          <a:xfrm>
            <a:off x="0" y="6565392"/>
            <a:ext cx="12191695" cy="292608"/>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6601968"/>
            <a:ext cx="8229600" cy="256032"/>
          </a:xfrm>
          <a:prstGeom prst="rect">
            <a:avLst/>
          </a:prstGeom>
          <a:noFill/>
        </p:spPr>
        <p:txBody>
          <a:bodyPr wrap="square" lIns="0" rIns="0" tIns="0" bIns="0" anchor="ctr">
            <a:spAutoFit/>
          </a:bodyPr>
          <a:lstStyle/>
          <a:p>
            <a:pPr algn="l"/>
            <a:r>
              <a:rPr sz="1000" b="0" i="0">
                <a:solidFill>
                  <a:srgbClr val="FFFFFF"/>
                </a:solidFill>
                <a:latin typeface="Calibri"/>
              </a:rPr>
              <a:t>BEX3000 · Investment Recommendation  ·  Speaker 2</a:t>
            </a:r>
          </a:p>
        </p:txBody>
      </p:sp>
      <p:sp>
        <p:nvSpPr>
          <p:cNvPr id="24" name="TextBox 23"/>
          <p:cNvSpPr txBox="1"/>
          <p:nvPr/>
        </p:nvSpPr>
        <p:spPr>
          <a:xfrm>
            <a:off x="10515600" y="6601968"/>
            <a:ext cx="1280160" cy="256032"/>
          </a:xfrm>
          <a:prstGeom prst="rect">
            <a:avLst/>
          </a:prstGeom>
          <a:noFill/>
        </p:spPr>
        <p:txBody>
          <a:bodyPr wrap="square" lIns="0" rIns="0" tIns="0" bIns="0" anchor="ctr">
            <a:spAutoFit/>
          </a:bodyPr>
          <a:lstStyle/>
          <a:p>
            <a:pPr algn="r"/>
            <a:r>
              <a:rPr sz="1000" b="0" i="0">
                <a:solidFill>
                  <a:srgbClr val="FFFFFF"/>
                </a:solidFill>
                <a:latin typeface="Calibri"/>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274320"/>
          </a:xfrm>
          <a:prstGeom prst="rect">
            <a:avLst/>
          </a:prstGeom>
          <a:noFill/>
        </p:spPr>
        <p:txBody>
          <a:bodyPr wrap="square" lIns="0" rIns="0" tIns="0" bIns="0" anchor="t">
            <a:spAutoFit/>
          </a:bodyPr>
          <a:lstStyle/>
          <a:p>
            <a:pPr algn="l"/>
            <a:r>
              <a:rPr sz="1100" b="1" i="0">
                <a:solidFill>
                  <a:srgbClr val="E8A317"/>
                </a:solidFill>
                <a:latin typeface="Calibri"/>
              </a:rPr>
              <a:t>03 · WHY NOT</a:t>
            </a:r>
          </a:p>
        </p:txBody>
      </p:sp>
      <p:sp>
        <p:nvSpPr>
          <p:cNvPr id="5" name="Rectangle 4"/>
          <p:cNvSpPr/>
          <p:nvPr/>
        </p:nvSpPr>
        <p:spPr>
          <a:xfrm>
            <a:off x="411480" y="914400"/>
            <a:ext cx="73152" cy="50292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868680"/>
            <a:ext cx="10972800" cy="640080"/>
          </a:xfrm>
          <a:prstGeom prst="rect">
            <a:avLst/>
          </a:prstGeom>
          <a:noFill/>
        </p:spPr>
        <p:txBody>
          <a:bodyPr wrap="square" lIns="0" rIns="0" tIns="0" bIns="0" anchor="t">
            <a:spAutoFit/>
          </a:bodyPr>
          <a:lstStyle/>
          <a:p>
            <a:pPr algn="l"/>
            <a:r>
              <a:rPr sz="3000" b="1" i="0">
                <a:solidFill>
                  <a:srgbClr val="072A66"/>
                </a:solidFill>
                <a:latin typeface="Calibri"/>
              </a:rPr>
              <a:t>Flight Centre — recovery, unresolved margin</a:t>
            </a:r>
          </a:p>
        </p:txBody>
      </p:sp>
      <p:sp>
        <p:nvSpPr>
          <p:cNvPr id="7" name="TextBox 6"/>
          <p:cNvSpPr txBox="1"/>
          <p:nvPr/>
        </p:nvSpPr>
        <p:spPr>
          <a:xfrm>
            <a:off x="640080" y="1920240"/>
            <a:ext cx="6858000" cy="4206240"/>
          </a:xfrm>
          <a:prstGeom prst="rect">
            <a:avLst/>
          </a:prstGeom>
          <a:noFill/>
        </p:spPr>
        <p:txBody>
          <a:bodyPr wrap="square" lIns="0" rIns="0" tIns="0" bIns="0">
            <a:spAutoFit/>
          </a:bodyPr>
          <a:lstStyle/>
          <a:p>
            <a:pPr algn="l">
              <a:lnSpc>
                <a:spcPct val="115000"/>
              </a:lnSpc>
            </a:pPr>
            <a:r>
              <a:rPr sz="1200" b="1" i="0">
                <a:solidFill>
                  <a:srgbClr val="E8A317"/>
                </a:solidFill>
                <a:latin typeface="Calibri"/>
              </a:rPr>
              <a:t>STRATEGY</a:t>
            </a:r>
          </a:p>
          <a:p>
            <a:pPr algn="l">
              <a:lnSpc>
                <a:spcPct val="115000"/>
              </a:lnSpc>
              <a:spcBef>
                <a:spcPts val="200"/>
              </a:spcBef>
            </a:pPr>
            <a:r>
              <a:rPr sz="1400" b="0" i="0">
                <a:solidFill>
                  <a:srgbClr val="2A2A2A"/>
                </a:solidFill>
                <a:latin typeface="Calibri"/>
              </a:rPr>
              <a:t>Corporate (FCM, Corporate Traveller) is structurally stronger than Leisure. Leisure faces persistent disintermediation as consumers book direct via OTAs and airline websites. Corporate is sensitive to enterprise cost-out cycles.</a:t>
            </a:r>
          </a:p>
          <a:p>
            <a:pPr algn="l">
              <a:lnSpc>
                <a:spcPct val="115000"/>
              </a:lnSpc>
              <a:spcBef>
                <a:spcPts val="1200"/>
              </a:spcBef>
            </a:pPr>
            <a:r>
              <a:rPr sz="1200" b="1" i="0">
                <a:solidFill>
                  <a:srgbClr val="E8A317"/>
                </a:solidFill>
                <a:latin typeface="Calibri"/>
              </a:rPr>
              <a:t>FINANCE</a:t>
            </a:r>
          </a:p>
          <a:p>
            <a:pPr algn="l">
              <a:lnSpc>
                <a:spcPct val="115000"/>
              </a:lnSpc>
              <a:spcBef>
                <a:spcPts val="200"/>
              </a:spcBef>
            </a:pPr>
            <a:r>
              <a:rPr sz="1400" b="0" i="0">
                <a:solidFill>
                  <a:srgbClr val="2A2A2A"/>
                </a:solidFill>
                <a:latin typeface="Calibri"/>
              </a:rPr>
              <a:t>Record FY25 TTV A$24.5bn (+3%); Corporate TTV A$12.3bn (+2%). UPBT A$289.1m at the midpoint of revised guidance — but UPBT margin on TTV remains well below FY19 peak. Share price at multi-year lows reflects scepticism on normalisation.</a:t>
            </a:r>
          </a:p>
          <a:p>
            <a:pPr algn="l">
              <a:lnSpc>
                <a:spcPct val="115000"/>
              </a:lnSpc>
              <a:spcBef>
                <a:spcPts val="1200"/>
              </a:spcBef>
            </a:pPr>
            <a:r>
              <a:rPr sz="1200" b="1" i="0">
                <a:solidFill>
                  <a:srgbClr val="E8A317"/>
                </a:solidFill>
                <a:latin typeface="Calibri"/>
              </a:rPr>
              <a:t>OUR VERDICT</a:t>
            </a:r>
          </a:p>
          <a:p>
            <a:pPr algn="l">
              <a:lnSpc>
                <a:spcPct val="115000"/>
              </a:lnSpc>
              <a:spcBef>
                <a:spcPts val="200"/>
              </a:spcBef>
            </a:pPr>
            <a:r>
              <a:rPr sz="1400" b="1" i="1">
                <a:solidFill>
                  <a:srgbClr val="072A66"/>
                </a:solidFill>
                <a:latin typeface="Calibri"/>
              </a:rPr>
              <a:t>Credible recovery — but recovery is largely in the price, and the structural margin question is unresolved.</a:t>
            </a:r>
          </a:p>
        </p:txBody>
      </p:sp>
      <p:sp>
        <p:nvSpPr>
          <p:cNvPr id="8" name="Rectangle 7"/>
          <p:cNvSpPr/>
          <p:nvPr/>
        </p:nvSpPr>
        <p:spPr>
          <a:xfrm>
            <a:off x="7863840" y="1920240"/>
            <a:ext cx="3749039" cy="42062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2103120"/>
            <a:ext cx="3200399" cy="274320"/>
          </a:xfrm>
          <a:prstGeom prst="rect">
            <a:avLst/>
          </a:prstGeom>
          <a:noFill/>
        </p:spPr>
        <p:txBody>
          <a:bodyPr wrap="square" lIns="0" rIns="0" tIns="0" bIns="0" anchor="t">
            <a:spAutoFit/>
          </a:bodyPr>
          <a:lstStyle/>
          <a:p>
            <a:pPr algn="l"/>
            <a:r>
              <a:rPr sz="1100" b="1" i="0">
                <a:solidFill>
                  <a:srgbClr val="E8A317"/>
                </a:solidFill>
                <a:latin typeface="Calibri"/>
              </a:rPr>
              <a:t>KEY FY25 METRICS</a:t>
            </a:r>
          </a:p>
        </p:txBody>
      </p:sp>
      <p:sp>
        <p:nvSpPr>
          <p:cNvPr id="10" name="TextBox 9"/>
          <p:cNvSpPr txBox="1"/>
          <p:nvPr/>
        </p:nvSpPr>
        <p:spPr>
          <a:xfrm>
            <a:off x="8138160" y="2514600"/>
            <a:ext cx="3200399" cy="274320"/>
          </a:xfrm>
          <a:prstGeom prst="rect">
            <a:avLst/>
          </a:prstGeom>
          <a:noFill/>
        </p:spPr>
        <p:txBody>
          <a:bodyPr wrap="square" lIns="0" rIns="0" tIns="0" bIns="0" anchor="t">
            <a:spAutoFit/>
          </a:bodyPr>
          <a:lstStyle/>
          <a:p>
            <a:pPr algn="l"/>
            <a:r>
              <a:rPr sz="1000" b="0" i="0">
                <a:solidFill>
                  <a:srgbClr val="FFFFFF"/>
                </a:solidFill>
                <a:latin typeface="Calibri"/>
              </a:rPr>
              <a:t>TOTAL TTV</a:t>
            </a:r>
          </a:p>
        </p:txBody>
      </p:sp>
      <p:sp>
        <p:nvSpPr>
          <p:cNvPr id="11" name="TextBox 10"/>
          <p:cNvSpPr txBox="1"/>
          <p:nvPr/>
        </p:nvSpPr>
        <p:spPr>
          <a:xfrm>
            <a:off x="8138160" y="2788920"/>
            <a:ext cx="3200399" cy="457200"/>
          </a:xfrm>
          <a:prstGeom prst="rect">
            <a:avLst/>
          </a:prstGeom>
          <a:noFill/>
        </p:spPr>
        <p:txBody>
          <a:bodyPr wrap="square" lIns="0" rIns="0" tIns="0" bIns="0" anchor="t">
            <a:spAutoFit/>
          </a:bodyPr>
          <a:lstStyle/>
          <a:p>
            <a:pPr algn="l"/>
            <a:r>
              <a:rPr sz="2200" b="1" i="0">
                <a:solidFill>
                  <a:srgbClr val="FFFFFF"/>
                </a:solidFill>
                <a:latin typeface="Calibri"/>
              </a:rPr>
              <a:t>A$24.5bn</a:t>
            </a:r>
          </a:p>
        </p:txBody>
      </p:sp>
      <p:sp>
        <p:nvSpPr>
          <p:cNvPr id="12" name="TextBox 11"/>
          <p:cNvSpPr txBox="1"/>
          <p:nvPr/>
        </p:nvSpPr>
        <p:spPr>
          <a:xfrm>
            <a:off x="8138160" y="3227832"/>
            <a:ext cx="3200399" cy="274320"/>
          </a:xfrm>
          <a:prstGeom prst="rect">
            <a:avLst/>
          </a:prstGeom>
          <a:noFill/>
        </p:spPr>
        <p:txBody>
          <a:bodyPr wrap="square" lIns="0" rIns="0" tIns="0" bIns="0" anchor="t">
            <a:spAutoFit/>
          </a:bodyPr>
          <a:lstStyle/>
          <a:p>
            <a:pPr algn="l"/>
            <a:r>
              <a:rPr sz="1100" b="0" i="1">
                <a:solidFill>
                  <a:srgbClr val="E8A317"/>
                </a:solidFill>
                <a:latin typeface="Calibri"/>
              </a:rPr>
              <a:t>+3% YoY</a:t>
            </a:r>
          </a:p>
        </p:txBody>
      </p:sp>
      <p:sp>
        <p:nvSpPr>
          <p:cNvPr id="13" name="TextBox 12"/>
          <p:cNvSpPr txBox="1"/>
          <p:nvPr/>
        </p:nvSpPr>
        <p:spPr>
          <a:xfrm>
            <a:off x="8138160" y="3566160"/>
            <a:ext cx="3200399" cy="274320"/>
          </a:xfrm>
          <a:prstGeom prst="rect">
            <a:avLst/>
          </a:prstGeom>
          <a:noFill/>
        </p:spPr>
        <p:txBody>
          <a:bodyPr wrap="square" lIns="0" rIns="0" tIns="0" bIns="0" anchor="t">
            <a:spAutoFit/>
          </a:bodyPr>
          <a:lstStyle/>
          <a:p>
            <a:pPr algn="l"/>
            <a:r>
              <a:rPr sz="1000" b="0" i="0">
                <a:solidFill>
                  <a:srgbClr val="FFFFFF"/>
                </a:solidFill>
                <a:latin typeface="Calibri"/>
              </a:rPr>
              <a:t>CORPORATE TTV</a:t>
            </a:r>
          </a:p>
        </p:txBody>
      </p:sp>
      <p:sp>
        <p:nvSpPr>
          <p:cNvPr id="14" name="TextBox 13"/>
          <p:cNvSpPr txBox="1"/>
          <p:nvPr/>
        </p:nvSpPr>
        <p:spPr>
          <a:xfrm>
            <a:off x="8138160" y="3840480"/>
            <a:ext cx="3200399" cy="457200"/>
          </a:xfrm>
          <a:prstGeom prst="rect">
            <a:avLst/>
          </a:prstGeom>
          <a:noFill/>
        </p:spPr>
        <p:txBody>
          <a:bodyPr wrap="square" lIns="0" rIns="0" tIns="0" bIns="0" anchor="t">
            <a:spAutoFit/>
          </a:bodyPr>
          <a:lstStyle/>
          <a:p>
            <a:pPr algn="l"/>
            <a:r>
              <a:rPr sz="2200" b="1" i="0">
                <a:solidFill>
                  <a:srgbClr val="FFFFFF"/>
                </a:solidFill>
                <a:latin typeface="Calibri"/>
              </a:rPr>
              <a:t>A$12.3bn</a:t>
            </a:r>
          </a:p>
        </p:txBody>
      </p:sp>
      <p:sp>
        <p:nvSpPr>
          <p:cNvPr id="15" name="TextBox 14"/>
          <p:cNvSpPr txBox="1"/>
          <p:nvPr/>
        </p:nvSpPr>
        <p:spPr>
          <a:xfrm>
            <a:off x="8138160" y="4279392"/>
            <a:ext cx="3200399" cy="274320"/>
          </a:xfrm>
          <a:prstGeom prst="rect">
            <a:avLst/>
          </a:prstGeom>
          <a:noFill/>
        </p:spPr>
        <p:txBody>
          <a:bodyPr wrap="square" lIns="0" rIns="0" tIns="0" bIns="0" anchor="t">
            <a:spAutoFit/>
          </a:bodyPr>
          <a:lstStyle/>
          <a:p>
            <a:pPr algn="l"/>
            <a:r>
              <a:rPr sz="1100" b="0" i="1">
                <a:solidFill>
                  <a:srgbClr val="E8A317"/>
                </a:solidFill>
                <a:latin typeface="Calibri"/>
              </a:rPr>
              <a:t>+2% YoY</a:t>
            </a:r>
          </a:p>
        </p:txBody>
      </p:sp>
      <p:sp>
        <p:nvSpPr>
          <p:cNvPr id="16" name="TextBox 15"/>
          <p:cNvSpPr txBox="1"/>
          <p:nvPr/>
        </p:nvSpPr>
        <p:spPr>
          <a:xfrm>
            <a:off x="8138160" y="4617720"/>
            <a:ext cx="3200399" cy="274320"/>
          </a:xfrm>
          <a:prstGeom prst="rect">
            <a:avLst/>
          </a:prstGeom>
          <a:noFill/>
        </p:spPr>
        <p:txBody>
          <a:bodyPr wrap="square" lIns="0" rIns="0" tIns="0" bIns="0" anchor="t">
            <a:spAutoFit/>
          </a:bodyPr>
          <a:lstStyle/>
          <a:p>
            <a:pPr algn="l"/>
            <a:r>
              <a:rPr sz="1000" b="0" i="0">
                <a:solidFill>
                  <a:srgbClr val="FFFFFF"/>
                </a:solidFill>
                <a:latin typeface="Calibri"/>
              </a:rPr>
              <a:t>UPBT</a:t>
            </a:r>
          </a:p>
        </p:txBody>
      </p:sp>
      <p:sp>
        <p:nvSpPr>
          <p:cNvPr id="17" name="TextBox 16"/>
          <p:cNvSpPr txBox="1"/>
          <p:nvPr/>
        </p:nvSpPr>
        <p:spPr>
          <a:xfrm>
            <a:off x="8138160" y="4892040"/>
            <a:ext cx="3200399" cy="457200"/>
          </a:xfrm>
          <a:prstGeom prst="rect">
            <a:avLst/>
          </a:prstGeom>
          <a:noFill/>
        </p:spPr>
        <p:txBody>
          <a:bodyPr wrap="square" lIns="0" rIns="0" tIns="0" bIns="0" anchor="t">
            <a:spAutoFit/>
          </a:bodyPr>
          <a:lstStyle/>
          <a:p>
            <a:pPr algn="l"/>
            <a:r>
              <a:rPr sz="2200" b="1" i="0">
                <a:solidFill>
                  <a:srgbClr val="FFFFFF"/>
                </a:solidFill>
                <a:latin typeface="Calibri"/>
              </a:rPr>
              <a:t>A$289.1m</a:t>
            </a:r>
          </a:p>
        </p:txBody>
      </p:sp>
      <p:sp>
        <p:nvSpPr>
          <p:cNvPr id="18" name="TextBox 17"/>
          <p:cNvSpPr txBox="1"/>
          <p:nvPr/>
        </p:nvSpPr>
        <p:spPr>
          <a:xfrm>
            <a:off x="8138160" y="5330952"/>
            <a:ext cx="3200399" cy="274320"/>
          </a:xfrm>
          <a:prstGeom prst="rect">
            <a:avLst/>
          </a:prstGeom>
          <a:noFill/>
        </p:spPr>
        <p:txBody>
          <a:bodyPr wrap="square" lIns="0" rIns="0" tIns="0" bIns="0" anchor="t">
            <a:spAutoFit/>
          </a:bodyPr>
          <a:lstStyle/>
          <a:p>
            <a:pPr algn="l"/>
            <a:r>
              <a:rPr sz="1100" b="0" i="1">
                <a:solidFill>
                  <a:srgbClr val="E8A317"/>
                </a:solidFill>
                <a:latin typeface="Calibri"/>
              </a:rPr>
              <a:t>vs. FY19 peak unmet</a:t>
            </a:r>
          </a:p>
        </p:txBody>
      </p:sp>
      <p:sp>
        <p:nvSpPr>
          <p:cNvPr id="19" name="TextBox 18"/>
          <p:cNvSpPr txBox="1"/>
          <p:nvPr/>
        </p:nvSpPr>
        <p:spPr>
          <a:xfrm>
            <a:off x="8138160" y="5669280"/>
            <a:ext cx="3200399" cy="274320"/>
          </a:xfrm>
          <a:prstGeom prst="rect">
            <a:avLst/>
          </a:prstGeom>
          <a:noFill/>
        </p:spPr>
        <p:txBody>
          <a:bodyPr wrap="square" lIns="0" rIns="0" tIns="0" bIns="0" anchor="t">
            <a:spAutoFit/>
          </a:bodyPr>
          <a:lstStyle/>
          <a:p>
            <a:pPr algn="l"/>
            <a:r>
              <a:rPr sz="1000" b="0" i="0">
                <a:solidFill>
                  <a:srgbClr val="FFFFFF"/>
                </a:solidFill>
                <a:latin typeface="Calibri"/>
              </a:rPr>
              <a:t>FY26</a:t>
            </a:r>
          </a:p>
        </p:txBody>
      </p:sp>
      <p:sp>
        <p:nvSpPr>
          <p:cNvPr id="20" name="TextBox 19"/>
          <p:cNvSpPr txBox="1"/>
          <p:nvPr/>
        </p:nvSpPr>
        <p:spPr>
          <a:xfrm>
            <a:off x="8138160" y="5943600"/>
            <a:ext cx="3200399" cy="457200"/>
          </a:xfrm>
          <a:prstGeom prst="rect">
            <a:avLst/>
          </a:prstGeom>
          <a:noFill/>
        </p:spPr>
        <p:txBody>
          <a:bodyPr wrap="square" lIns="0" rIns="0" tIns="0" bIns="0" anchor="t">
            <a:spAutoFit/>
          </a:bodyPr>
          <a:lstStyle/>
          <a:p>
            <a:pPr algn="l"/>
            <a:r>
              <a:rPr sz="2200" b="1" i="0">
                <a:solidFill>
                  <a:srgbClr val="FFFFFF"/>
                </a:solidFill>
                <a:latin typeface="Calibri"/>
              </a:rPr>
              <a:t>Flat costs</a:t>
            </a:r>
          </a:p>
        </p:txBody>
      </p:sp>
      <p:sp>
        <p:nvSpPr>
          <p:cNvPr id="21" name="TextBox 20"/>
          <p:cNvSpPr txBox="1"/>
          <p:nvPr/>
        </p:nvSpPr>
        <p:spPr>
          <a:xfrm>
            <a:off x="8138160" y="6382512"/>
            <a:ext cx="3200399" cy="274320"/>
          </a:xfrm>
          <a:prstGeom prst="rect">
            <a:avLst/>
          </a:prstGeom>
          <a:noFill/>
        </p:spPr>
        <p:txBody>
          <a:bodyPr wrap="square" lIns="0" rIns="0" tIns="0" bIns="0" anchor="t">
            <a:spAutoFit/>
          </a:bodyPr>
          <a:lstStyle/>
          <a:p>
            <a:pPr algn="l"/>
            <a:r>
              <a:rPr sz="1100" b="0" i="1">
                <a:solidFill>
                  <a:srgbClr val="E8A317"/>
                </a:solidFill>
                <a:latin typeface="Calibri"/>
              </a:rPr>
              <a:t>AI productivity push</a:t>
            </a:r>
          </a:p>
        </p:txBody>
      </p:sp>
      <p:sp>
        <p:nvSpPr>
          <p:cNvPr id="22" name="Rectangle 21"/>
          <p:cNvSpPr/>
          <p:nvPr/>
        </p:nvSpPr>
        <p:spPr>
          <a:xfrm>
            <a:off x="0" y="6565392"/>
            <a:ext cx="12191695" cy="292608"/>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6601968"/>
            <a:ext cx="8229600" cy="256032"/>
          </a:xfrm>
          <a:prstGeom prst="rect">
            <a:avLst/>
          </a:prstGeom>
          <a:noFill/>
        </p:spPr>
        <p:txBody>
          <a:bodyPr wrap="square" lIns="0" rIns="0" tIns="0" bIns="0" anchor="ctr">
            <a:spAutoFit/>
          </a:bodyPr>
          <a:lstStyle/>
          <a:p>
            <a:pPr algn="l"/>
            <a:r>
              <a:rPr sz="1000" b="0" i="0">
                <a:solidFill>
                  <a:srgbClr val="FFFFFF"/>
                </a:solidFill>
                <a:latin typeface="Calibri"/>
              </a:rPr>
              <a:t>BEX3000 · Investment Recommendation  ·  Speaker 3</a:t>
            </a:r>
          </a:p>
        </p:txBody>
      </p:sp>
      <p:sp>
        <p:nvSpPr>
          <p:cNvPr id="24" name="TextBox 23"/>
          <p:cNvSpPr txBox="1"/>
          <p:nvPr/>
        </p:nvSpPr>
        <p:spPr>
          <a:xfrm>
            <a:off x="10515600" y="6601968"/>
            <a:ext cx="1280160" cy="256032"/>
          </a:xfrm>
          <a:prstGeom prst="rect">
            <a:avLst/>
          </a:prstGeom>
          <a:noFill/>
        </p:spPr>
        <p:txBody>
          <a:bodyPr wrap="square" lIns="0" rIns="0" tIns="0" bIns="0" anchor="ctr">
            <a:spAutoFit/>
          </a:bodyPr>
          <a:lstStyle/>
          <a:p>
            <a:pPr algn="r"/>
            <a:r>
              <a:rPr sz="1000" b="0" i="0">
                <a:solidFill>
                  <a:srgbClr val="FFFFFF"/>
                </a:solidFill>
                <a:latin typeface="Calibri"/>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274320"/>
          </a:xfrm>
          <a:prstGeom prst="rect">
            <a:avLst/>
          </a:prstGeom>
          <a:noFill/>
        </p:spPr>
        <p:txBody>
          <a:bodyPr wrap="square" lIns="0" rIns="0" tIns="0" bIns="0" anchor="t">
            <a:spAutoFit/>
          </a:bodyPr>
          <a:lstStyle/>
          <a:p>
            <a:pPr algn="l"/>
            <a:r>
              <a:rPr sz="1100" b="1" i="0">
                <a:solidFill>
                  <a:srgbClr val="E8A317"/>
                </a:solidFill>
                <a:latin typeface="Calibri"/>
              </a:rPr>
              <a:t>04 · THE CASE · STRATEGY</a:t>
            </a:r>
          </a:p>
        </p:txBody>
      </p:sp>
      <p:sp>
        <p:nvSpPr>
          <p:cNvPr id="5" name="Rectangle 4"/>
          <p:cNvSpPr/>
          <p:nvPr/>
        </p:nvSpPr>
        <p:spPr>
          <a:xfrm>
            <a:off x="411480" y="914400"/>
            <a:ext cx="73152" cy="50292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868680"/>
            <a:ext cx="10972800" cy="640080"/>
          </a:xfrm>
          <a:prstGeom prst="rect">
            <a:avLst/>
          </a:prstGeom>
          <a:noFill/>
        </p:spPr>
        <p:txBody>
          <a:bodyPr wrap="square" lIns="0" rIns="0" tIns="0" bIns="0" anchor="t">
            <a:spAutoFit/>
          </a:bodyPr>
          <a:lstStyle/>
          <a:p>
            <a:pPr algn="l"/>
            <a:r>
              <a:rPr sz="3000" b="1" i="0">
                <a:solidFill>
                  <a:srgbClr val="072A66"/>
                </a:solidFill>
                <a:latin typeface="Calibri"/>
              </a:rPr>
              <a:t>NextDC — strategy &amp; competitive position</a:t>
            </a:r>
          </a:p>
        </p:txBody>
      </p:sp>
      <p:sp>
        <p:nvSpPr>
          <p:cNvPr id="7" name="Rectangle 6"/>
          <p:cNvSpPr/>
          <p:nvPr/>
        </p:nvSpPr>
        <p:spPr>
          <a:xfrm>
            <a:off x="640080" y="1920240"/>
            <a:ext cx="3611880" cy="41148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920240"/>
            <a:ext cx="3611880" cy="109728"/>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240280"/>
            <a:ext cx="548640" cy="548640"/>
          </a:xfrm>
          <a:prstGeom prst="rect">
            <a:avLst/>
          </a:prstGeom>
          <a:noFill/>
        </p:spPr>
        <p:txBody>
          <a:bodyPr wrap="square" lIns="0" rIns="0" tIns="0" bIns="0" anchor="t">
            <a:spAutoFit/>
          </a:bodyPr>
          <a:lstStyle/>
          <a:p>
            <a:pPr algn="l"/>
            <a:r>
              <a:rPr sz="2800" b="1" i="0">
                <a:solidFill>
                  <a:srgbClr val="0B3D91"/>
                </a:solidFill>
                <a:latin typeface="Calibri"/>
              </a:rPr>
              <a:t>▲</a:t>
            </a:r>
          </a:p>
        </p:txBody>
      </p:sp>
      <p:sp>
        <p:nvSpPr>
          <p:cNvPr id="10" name="TextBox 9"/>
          <p:cNvSpPr txBox="1"/>
          <p:nvPr/>
        </p:nvSpPr>
        <p:spPr>
          <a:xfrm>
            <a:off x="914400" y="2834640"/>
            <a:ext cx="3063240" cy="640080"/>
          </a:xfrm>
          <a:prstGeom prst="rect">
            <a:avLst/>
          </a:prstGeom>
          <a:noFill/>
        </p:spPr>
        <p:txBody>
          <a:bodyPr wrap="square" lIns="0" rIns="0" tIns="0" bIns="0" anchor="t">
            <a:spAutoFit/>
          </a:bodyPr>
          <a:lstStyle/>
          <a:p>
            <a:pPr algn="l"/>
            <a:r>
              <a:rPr sz="1800" b="1" i="0">
                <a:solidFill>
                  <a:srgbClr val="072A66"/>
                </a:solidFill>
                <a:latin typeface="Calibri"/>
              </a:rPr>
              <a:t>Demand is structural</a:t>
            </a:r>
          </a:p>
        </p:txBody>
      </p:sp>
      <p:sp>
        <p:nvSpPr>
          <p:cNvPr id="11" name="TextBox 10"/>
          <p:cNvSpPr txBox="1"/>
          <p:nvPr/>
        </p:nvSpPr>
        <p:spPr>
          <a:xfrm>
            <a:off x="914400" y="3611880"/>
            <a:ext cx="3063240" cy="1554480"/>
          </a:xfrm>
          <a:prstGeom prst="rect">
            <a:avLst/>
          </a:prstGeom>
          <a:noFill/>
        </p:spPr>
        <p:txBody>
          <a:bodyPr wrap="square" lIns="0" rIns="0" tIns="0" bIns="0" anchor="t">
            <a:spAutoFit/>
          </a:bodyPr>
          <a:lstStyle/>
          <a:p>
            <a:pPr algn="l"/>
            <a:r>
              <a:rPr sz="1300" b="0" i="0">
                <a:solidFill>
                  <a:srgbClr val="2A2A2A"/>
                </a:solidFill>
                <a:latin typeface="Calibri"/>
              </a:rPr>
              <a:t>AI training/inference + hyperscaler cloud expansion + data sovereignty rules drive multi-year demand insensitive to short-term economic cycles.</a:t>
            </a:r>
          </a:p>
        </p:txBody>
      </p:sp>
      <p:sp>
        <p:nvSpPr>
          <p:cNvPr id="12" name="Rectangle 11"/>
          <p:cNvSpPr/>
          <p:nvPr/>
        </p:nvSpPr>
        <p:spPr>
          <a:xfrm>
            <a:off x="914400" y="5029200"/>
            <a:ext cx="3063240" cy="18288"/>
          </a:xfrm>
          <a:prstGeom prst="rect">
            <a:avLst/>
          </a:prstGeom>
          <a:solidFill>
            <a:srgbClr val="CCD1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166360"/>
            <a:ext cx="3063240" cy="502920"/>
          </a:xfrm>
          <a:prstGeom prst="rect">
            <a:avLst/>
          </a:prstGeom>
          <a:noFill/>
        </p:spPr>
        <p:txBody>
          <a:bodyPr wrap="square" lIns="0" rIns="0" tIns="0" bIns="0" anchor="t">
            <a:spAutoFit/>
          </a:bodyPr>
          <a:lstStyle/>
          <a:p>
            <a:pPr algn="l"/>
            <a:r>
              <a:rPr sz="2200" b="1" i="0">
                <a:solidFill>
                  <a:srgbClr val="0B3D91"/>
                </a:solidFill>
                <a:latin typeface="Calibri"/>
              </a:rPr>
              <a:t>133.9 MW</a:t>
            </a:r>
          </a:p>
        </p:txBody>
      </p:sp>
      <p:sp>
        <p:nvSpPr>
          <p:cNvPr id="14" name="TextBox 13"/>
          <p:cNvSpPr txBox="1"/>
          <p:nvPr/>
        </p:nvSpPr>
        <p:spPr>
          <a:xfrm>
            <a:off x="914400" y="5623560"/>
            <a:ext cx="3063240" cy="320040"/>
          </a:xfrm>
          <a:prstGeom prst="rect">
            <a:avLst/>
          </a:prstGeom>
          <a:noFill/>
        </p:spPr>
        <p:txBody>
          <a:bodyPr wrap="square" lIns="0" rIns="0" tIns="0" bIns="0" anchor="t">
            <a:spAutoFit/>
          </a:bodyPr>
          <a:lstStyle/>
          <a:p>
            <a:pPr algn="l"/>
            <a:r>
              <a:rPr sz="1000" b="0" i="1">
                <a:solidFill>
                  <a:srgbClr val="555555"/>
                </a:solidFill>
                <a:latin typeface="Calibri"/>
              </a:rPr>
              <a:t>FY25 record forward order book</a:t>
            </a:r>
          </a:p>
        </p:txBody>
      </p:sp>
      <p:sp>
        <p:nvSpPr>
          <p:cNvPr id="15" name="Rectangle 14"/>
          <p:cNvSpPr/>
          <p:nvPr/>
        </p:nvSpPr>
        <p:spPr>
          <a:xfrm>
            <a:off x="4434840" y="1920240"/>
            <a:ext cx="3611880" cy="41148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34840" y="1920240"/>
            <a:ext cx="3611880" cy="109728"/>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9160" y="2240280"/>
            <a:ext cx="548640" cy="548640"/>
          </a:xfrm>
          <a:prstGeom prst="rect">
            <a:avLst/>
          </a:prstGeom>
          <a:noFill/>
        </p:spPr>
        <p:txBody>
          <a:bodyPr wrap="square" lIns="0" rIns="0" tIns="0" bIns="0" anchor="t">
            <a:spAutoFit/>
          </a:bodyPr>
          <a:lstStyle/>
          <a:p>
            <a:pPr algn="l"/>
            <a:r>
              <a:rPr sz="2800" b="1" i="0">
                <a:solidFill>
                  <a:srgbClr val="0B3D91"/>
                </a:solidFill>
                <a:latin typeface="Calibri"/>
              </a:rPr>
              <a:t>■</a:t>
            </a:r>
          </a:p>
        </p:txBody>
      </p:sp>
      <p:sp>
        <p:nvSpPr>
          <p:cNvPr id="18" name="TextBox 17"/>
          <p:cNvSpPr txBox="1"/>
          <p:nvPr/>
        </p:nvSpPr>
        <p:spPr>
          <a:xfrm>
            <a:off x="4709160" y="2834640"/>
            <a:ext cx="3063240" cy="640080"/>
          </a:xfrm>
          <a:prstGeom prst="rect">
            <a:avLst/>
          </a:prstGeom>
          <a:noFill/>
        </p:spPr>
        <p:txBody>
          <a:bodyPr wrap="square" lIns="0" rIns="0" tIns="0" bIns="0" anchor="t">
            <a:spAutoFit/>
          </a:bodyPr>
          <a:lstStyle/>
          <a:p>
            <a:pPr algn="l"/>
            <a:r>
              <a:rPr sz="1800" b="1" i="0">
                <a:solidFill>
                  <a:srgbClr val="072A66"/>
                </a:solidFill>
                <a:latin typeface="Calibri"/>
              </a:rPr>
              <a:t>Moats are durable</a:t>
            </a:r>
          </a:p>
        </p:txBody>
      </p:sp>
      <p:sp>
        <p:nvSpPr>
          <p:cNvPr id="19" name="TextBox 18"/>
          <p:cNvSpPr txBox="1"/>
          <p:nvPr/>
        </p:nvSpPr>
        <p:spPr>
          <a:xfrm>
            <a:off x="4709160" y="3611880"/>
            <a:ext cx="3063240" cy="1554480"/>
          </a:xfrm>
          <a:prstGeom prst="rect">
            <a:avLst/>
          </a:prstGeom>
          <a:noFill/>
        </p:spPr>
        <p:txBody>
          <a:bodyPr wrap="square" lIns="0" rIns="0" tIns="0" bIns="0" anchor="t">
            <a:spAutoFit/>
          </a:bodyPr>
          <a:lstStyle/>
          <a:p>
            <a:pPr algn="l"/>
            <a:r>
              <a:rPr sz="1300" b="0" i="0">
                <a:solidFill>
                  <a:srgbClr val="2A2A2A"/>
                </a:solidFill>
                <a:latin typeface="Calibri"/>
              </a:rPr>
              <a:t>Existing grid-connection rights in Sydney and Melbourne are an effective barrier to entry. New entrants face multi-year delays to secure equivalent power.</a:t>
            </a:r>
          </a:p>
        </p:txBody>
      </p:sp>
      <p:sp>
        <p:nvSpPr>
          <p:cNvPr id="20" name="Rectangle 19"/>
          <p:cNvSpPr/>
          <p:nvPr/>
        </p:nvSpPr>
        <p:spPr>
          <a:xfrm>
            <a:off x="4709160" y="5029200"/>
            <a:ext cx="3063240" cy="18288"/>
          </a:xfrm>
          <a:prstGeom prst="rect">
            <a:avLst/>
          </a:prstGeom>
          <a:solidFill>
            <a:srgbClr val="CCD1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09160" y="5166360"/>
            <a:ext cx="3063240" cy="502920"/>
          </a:xfrm>
          <a:prstGeom prst="rect">
            <a:avLst/>
          </a:prstGeom>
          <a:noFill/>
        </p:spPr>
        <p:txBody>
          <a:bodyPr wrap="square" lIns="0" rIns="0" tIns="0" bIns="0" anchor="t">
            <a:spAutoFit/>
          </a:bodyPr>
          <a:lstStyle/>
          <a:p>
            <a:pPr algn="l"/>
            <a:r>
              <a:rPr sz="2200" b="1" i="0">
                <a:solidFill>
                  <a:srgbClr val="0B3D91"/>
                </a:solidFill>
                <a:latin typeface="Calibri"/>
              </a:rPr>
              <a:t>10+ yrs</a:t>
            </a:r>
          </a:p>
        </p:txBody>
      </p:sp>
      <p:sp>
        <p:nvSpPr>
          <p:cNvPr id="22" name="TextBox 21"/>
          <p:cNvSpPr txBox="1"/>
          <p:nvPr/>
        </p:nvSpPr>
        <p:spPr>
          <a:xfrm>
            <a:off x="4709160" y="5623560"/>
            <a:ext cx="3063240" cy="320040"/>
          </a:xfrm>
          <a:prstGeom prst="rect">
            <a:avLst/>
          </a:prstGeom>
          <a:noFill/>
        </p:spPr>
        <p:txBody>
          <a:bodyPr wrap="square" lIns="0" rIns="0" tIns="0" bIns="0" anchor="t">
            <a:spAutoFit/>
          </a:bodyPr>
          <a:lstStyle/>
          <a:p>
            <a:pPr algn="l"/>
            <a:r>
              <a:rPr sz="1000" b="0" i="1">
                <a:solidFill>
                  <a:srgbClr val="555555"/>
                </a:solidFill>
                <a:latin typeface="Calibri"/>
              </a:rPr>
              <a:t>Typical hyperscaler contract length</a:t>
            </a:r>
          </a:p>
        </p:txBody>
      </p:sp>
      <p:sp>
        <p:nvSpPr>
          <p:cNvPr id="23" name="Rectangle 22"/>
          <p:cNvSpPr/>
          <p:nvPr/>
        </p:nvSpPr>
        <p:spPr>
          <a:xfrm>
            <a:off x="8229600" y="1920240"/>
            <a:ext cx="3611880" cy="41148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229600" y="1920240"/>
            <a:ext cx="3611880" cy="109728"/>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03920" y="2240280"/>
            <a:ext cx="548640" cy="548640"/>
          </a:xfrm>
          <a:prstGeom prst="rect">
            <a:avLst/>
          </a:prstGeom>
          <a:noFill/>
        </p:spPr>
        <p:txBody>
          <a:bodyPr wrap="square" lIns="0" rIns="0" tIns="0" bIns="0" anchor="t">
            <a:spAutoFit/>
          </a:bodyPr>
          <a:lstStyle/>
          <a:p>
            <a:pPr algn="l"/>
            <a:r>
              <a:rPr sz="2800" b="1" i="0">
                <a:solidFill>
                  <a:srgbClr val="0B3D91"/>
                </a:solidFill>
                <a:latin typeface="Calibri"/>
              </a:rPr>
              <a:t>●</a:t>
            </a:r>
          </a:p>
        </p:txBody>
      </p:sp>
      <p:sp>
        <p:nvSpPr>
          <p:cNvPr id="26" name="TextBox 25"/>
          <p:cNvSpPr txBox="1"/>
          <p:nvPr/>
        </p:nvSpPr>
        <p:spPr>
          <a:xfrm>
            <a:off x="8503920" y="2834640"/>
            <a:ext cx="3063240" cy="640080"/>
          </a:xfrm>
          <a:prstGeom prst="rect">
            <a:avLst/>
          </a:prstGeom>
          <a:noFill/>
        </p:spPr>
        <p:txBody>
          <a:bodyPr wrap="square" lIns="0" rIns="0" tIns="0" bIns="0" anchor="t">
            <a:spAutoFit/>
          </a:bodyPr>
          <a:lstStyle/>
          <a:p>
            <a:pPr algn="l"/>
            <a:r>
              <a:rPr sz="1800" b="1" i="0">
                <a:solidFill>
                  <a:srgbClr val="072A66"/>
                </a:solidFill>
                <a:latin typeface="Calibri"/>
              </a:rPr>
              <a:t>Contracts are bond-like</a:t>
            </a:r>
          </a:p>
        </p:txBody>
      </p:sp>
      <p:sp>
        <p:nvSpPr>
          <p:cNvPr id="27" name="TextBox 26"/>
          <p:cNvSpPr txBox="1"/>
          <p:nvPr/>
        </p:nvSpPr>
        <p:spPr>
          <a:xfrm>
            <a:off x="8503920" y="3611880"/>
            <a:ext cx="3063240" cy="1554480"/>
          </a:xfrm>
          <a:prstGeom prst="rect">
            <a:avLst/>
          </a:prstGeom>
          <a:noFill/>
        </p:spPr>
        <p:txBody>
          <a:bodyPr wrap="square" lIns="0" rIns="0" tIns="0" bIns="0" anchor="t">
            <a:spAutoFit/>
          </a:bodyPr>
          <a:lstStyle/>
          <a:p>
            <a:pPr algn="l"/>
            <a:r>
              <a:rPr sz="1300" b="0" i="0">
                <a:solidFill>
                  <a:srgbClr val="2A2A2A"/>
                </a:solidFill>
                <a:latin typeface="Calibri"/>
              </a:rPr>
              <a:t>Long-dated contracts with investment-grade hyperscalers (AWS, Microsoft, Google) provide cashflow visibility; escalators preserve growth optionality.</a:t>
            </a:r>
          </a:p>
        </p:txBody>
      </p:sp>
      <p:sp>
        <p:nvSpPr>
          <p:cNvPr id="28" name="Rectangle 27"/>
          <p:cNvSpPr/>
          <p:nvPr/>
        </p:nvSpPr>
        <p:spPr>
          <a:xfrm>
            <a:off x="8503920" y="5029200"/>
            <a:ext cx="3063240" cy="18288"/>
          </a:xfrm>
          <a:prstGeom prst="rect">
            <a:avLst/>
          </a:prstGeom>
          <a:solidFill>
            <a:srgbClr val="CCD1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03920" y="5166360"/>
            <a:ext cx="3063240" cy="502920"/>
          </a:xfrm>
          <a:prstGeom prst="rect">
            <a:avLst/>
          </a:prstGeom>
          <a:noFill/>
        </p:spPr>
        <p:txBody>
          <a:bodyPr wrap="square" lIns="0" rIns="0" tIns="0" bIns="0" anchor="t">
            <a:spAutoFit/>
          </a:bodyPr>
          <a:lstStyle/>
          <a:p>
            <a:pPr algn="l"/>
            <a:r>
              <a:rPr sz="2200" b="1" i="0">
                <a:solidFill>
                  <a:srgbClr val="0B3D91"/>
                </a:solidFill>
                <a:latin typeface="Calibri"/>
              </a:rPr>
              <a:t>AWS · Azure · GCP</a:t>
            </a:r>
          </a:p>
        </p:txBody>
      </p:sp>
      <p:sp>
        <p:nvSpPr>
          <p:cNvPr id="30" name="TextBox 29"/>
          <p:cNvSpPr txBox="1"/>
          <p:nvPr/>
        </p:nvSpPr>
        <p:spPr>
          <a:xfrm>
            <a:off x="8503920" y="5623560"/>
            <a:ext cx="3063240" cy="320040"/>
          </a:xfrm>
          <a:prstGeom prst="rect">
            <a:avLst/>
          </a:prstGeom>
          <a:noFill/>
        </p:spPr>
        <p:txBody>
          <a:bodyPr wrap="square" lIns="0" rIns="0" tIns="0" bIns="0" anchor="t">
            <a:spAutoFit/>
          </a:bodyPr>
          <a:lstStyle/>
          <a:p>
            <a:pPr algn="l"/>
            <a:r>
              <a:rPr sz="1000" b="0" i="1">
                <a:solidFill>
                  <a:srgbClr val="555555"/>
                </a:solidFill>
                <a:latin typeface="Calibri"/>
              </a:rPr>
              <a:t>Customers anchor the revenue base</a:t>
            </a:r>
          </a:p>
        </p:txBody>
      </p:sp>
      <p:sp>
        <p:nvSpPr>
          <p:cNvPr id="31" name="Rectangle 30"/>
          <p:cNvSpPr/>
          <p:nvPr/>
        </p:nvSpPr>
        <p:spPr>
          <a:xfrm>
            <a:off x="0" y="6565392"/>
            <a:ext cx="12191695" cy="292608"/>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6601968"/>
            <a:ext cx="8229600" cy="256032"/>
          </a:xfrm>
          <a:prstGeom prst="rect">
            <a:avLst/>
          </a:prstGeom>
          <a:noFill/>
        </p:spPr>
        <p:txBody>
          <a:bodyPr wrap="square" lIns="0" rIns="0" tIns="0" bIns="0" anchor="ctr">
            <a:spAutoFit/>
          </a:bodyPr>
          <a:lstStyle/>
          <a:p>
            <a:pPr algn="l"/>
            <a:r>
              <a:rPr sz="1000" b="0" i="0">
                <a:solidFill>
                  <a:srgbClr val="FFFFFF"/>
                </a:solidFill>
                <a:latin typeface="Calibri"/>
              </a:rPr>
              <a:t>BEX3000 · Investment Recommendation  ·  Speaker 4</a:t>
            </a:r>
          </a:p>
        </p:txBody>
      </p:sp>
      <p:sp>
        <p:nvSpPr>
          <p:cNvPr id="33" name="TextBox 32"/>
          <p:cNvSpPr txBox="1"/>
          <p:nvPr/>
        </p:nvSpPr>
        <p:spPr>
          <a:xfrm>
            <a:off x="10515600" y="6601968"/>
            <a:ext cx="1280160" cy="256032"/>
          </a:xfrm>
          <a:prstGeom prst="rect">
            <a:avLst/>
          </a:prstGeom>
          <a:noFill/>
        </p:spPr>
        <p:txBody>
          <a:bodyPr wrap="square" lIns="0" rIns="0" tIns="0" bIns="0" anchor="ctr">
            <a:spAutoFit/>
          </a:bodyPr>
          <a:lstStyle/>
          <a:p>
            <a:pPr algn="r"/>
            <a:r>
              <a:rPr sz="1000" b="0" i="0">
                <a:solidFill>
                  <a:srgbClr val="FFFFFF"/>
                </a:solidFill>
                <a:latin typeface="Calibri"/>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274320"/>
          </a:xfrm>
          <a:prstGeom prst="rect">
            <a:avLst/>
          </a:prstGeom>
          <a:noFill/>
        </p:spPr>
        <p:txBody>
          <a:bodyPr wrap="square" lIns="0" rIns="0" tIns="0" bIns="0" anchor="t">
            <a:spAutoFit/>
          </a:bodyPr>
          <a:lstStyle/>
          <a:p>
            <a:pPr algn="l"/>
            <a:r>
              <a:rPr sz="1100" b="1" i="0">
                <a:solidFill>
                  <a:srgbClr val="E8A317"/>
                </a:solidFill>
                <a:latin typeface="Calibri"/>
              </a:rPr>
              <a:t>05 · THE CASE · FINANCE</a:t>
            </a:r>
          </a:p>
        </p:txBody>
      </p:sp>
      <p:sp>
        <p:nvSpPr>
          <p:cNvPr id="5" name="Rectangle 4"/>
          <p:cNvSpPr/>
          <p:nvPr/>
        </p:nvSpPr>
        <p:spPr>
          <a:xfrm>
            <a:off x="411480" y="914400"/>
            <a:ext cx="73152" cy="50292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868680"/>
            <a:ext cx="10972800" cy="640080"/>
          </a:xfrm>
          <a:prstGeom prst="rect">
            <a:avLst/>
          </a:prstGeom>
          <a:noFill/>
        </p:spPr>
        <p:txBody>
          <a:bodyPr wrap="square" lIns="0" rIns="0" tIns="0" bIns="0" anchor="t">
            <a:spAutoFit/>
          </a:bodyPr>
          <a:lstStyle/>
          <a:p>
            <a:pPr algn="l"/>
            <a:r>
              <a:rPr sz="3000" b="1" i="0">
                <a:solidFill>
                  <a:srgbClr val="072A66"/>
                </a:solidFill>
                <a:latin typeface="Calibri"/>
              </a:rPr>
              <a:t>NextDC — financial performance</a:t>
            </a:r>
          </a:p>
        </p:txBody>
      </p:sp>
      <p:graphicFrame>
        <p:nvGraphicFramePr>
          <p:cNvPr id="7" name="Chart 6"/>
          <p:cNvGraphicFramePr>
            <a:graphicFrameLocks noGrp="1"/>
          </p:cNvGraphicFramePr>
          <p:nvPr/>
        </p:nvGraphicFramePr>
        <p:xfrm>
          <a:off x="640080" y="1920240"/>
          <a:ext cx="6675120" cy="4206240"/>
        </p:xfrm>
        <a:graphic>
          <a:graphicData uri="http://schemas.openxmlformats.org/drawingml/2006/chart">
            <c:chart xmlns:c="http://schemas.openxmlformats.org/drawingml/2006/chart" r:id="rId2"/>
          </a:graphicData>
        </a:graphic>
      </p:graphicFrame>
      <p:sp>
        <p:nvSpPr>
          <p:cNvPr id="8" name="Rectangle 7"/>
          <p:cNvSpPr/>
          <p:nvPr/>
        </p:nvSpPr>
        <p:spPr>
          <a:xfrm>
            <a:off x="7680960" y="1920240"/>
            <a:ext cx="3931920" cy="420624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0" y="2103120"/>
            <a:ext cx="3383280" cy="320040"/>
          </a:xfrm>
          <a:prstGeom prst="rect">
            <a:avLst/>
          </a:prstGeom>
          <a:noFill/>
        </p:spPr>
        <p:txBody>
          <a:bodyPr wrap="square" lIns="0" rIns="0" tIns="0" bIns="0" anchor="t">
            <a:spAutoFit/>
          </a:bodyPr>
          <a:lstStyle/>
          <a:p>
            <a:pPr algn="l"/>
            <a:r>
              <a:rPr sz="1100" b="1" i="0">
                <a:solidFill>
                  <a:srgbClr val="E8A317"/>
                </a:solidFill>
                <a:latin typeface="Calibri"/>
              </a:rPr>
              <a:t>WHY IT WORKS</a:t>
            </a:r>
          </a:p>
        </p:txBody>
      </p:sp>
      <p:sp>
        <p:nvSpPr>
          <p:cNvPr id="10" name="TextBox 9"/>
          <p:cNvSpPr txBox="1"/>
          <p:nvPr/>
        </p:nvSpPr>
        <p:spPr>
          <a:xfrm>
            <a:off x="7955280" y="2514600"/>
            <a:ext cx="3383280" cy="502920"/>
          </a:xfrm>
          <a:prstGeom prst="rect">
            <a:avLst/>
          </a:prstGeom>
          <a:noFill/>
        </p:spPr>
        <p:txBody>
          <a:bodyPr wrap="square" lIns="0" rIns="0" tIns="0" bIns="0" anchor="t">
            <a:spAutoFit/>
          </a:bodyPr>
          <a:lstStyle/>
          <a:p>
            <a:pPr algn="l"/>
            <a:r>
              <a:rPr sz="2400" b="1" i="0">
                <a:solidFill>
                  <a:srgbClr val="E8A317"/>
                </a:solidFill>
                <a:latin typeface="Calibri"/>
              </a:rPr>
              <a:t>60%+</a:t>
            </a:r>
          </a:p>
        </p:txBody>
      </p:sp>
      <p:sp>
        <p:nvSpPr>
          <p:cNvPr id="11" name="TextBox 10"/>
          <p:cNvSpPr txBox="1"/>
          <p:nvPr/>
        </p:nvSpPr>
        <p:spPr>
          <a:xfrm>
            <a:off x="7955280" y="3017520"/>
            <a:ext cx="3383280" cy="411480"/>
          </a:xfrm>
          <a:prstGeom prst="rect">
            <a:avLst/>
          </a:prstGeom>
          <a:noFill/>
        </p:spPr>
        <p:txBody>
          <a:bodyPr wrap="square" lIns="0" rIns="0" tIns="0" bIns="0" anchor="t">
            <a:spAutoFit/>
          </a:bodyPr>
          <a:lstStyle/>
          <a:p>
            <a:pPr algn="l"/>
            <a:r>
              <a:rPr sz="1100" b="0" i="0">
                <a:solidFill>
                  <a:srgbClr val="FFFFFF"/>
                </a:solidFill>
                <a:latin typeface="Calibri"/>
              </a:rPr>
              <a:t>EBITDA margin on data-centre services — industry-leading for ASX mid-cap</a:t>
            </a:r>
          </a:p>
        </p:txBody>
      </p:sp>
      <p:sp>
        <p:nvSpPr>
          <p:cNvPr id="12" name="TextBox 11"/>
          <p:cNvSpPr txBox="1"/>
          <p:nvPr/>
        </p:nvSpPr>
        <p:spPr>
          <a:xfrm>
            <a:off x="7955280" y="3474720"/>
            <a:ext cx="3383280" cy="502920"/>
          </a:xfrm>
          <a:prstGeom prst="rect">
            <a:avLst/>
          </a:prstGeom>
          <a:noFill/>
        </p:spPr>
        <p:txBody>
          <a:bodyPr wrap="square" lIns="0" rIns="0" tIns="0" bIns="0" anchor="t">
            <a:spAutoFit/>
          </a:bodyPr>
          <a:lstStyle/>
          <a:p>
            <a:pPr algn="l"/>
            <a:r>
              <a:rPr sz="2400" b="1" i="0">
                <a:solidFill>
                  <a:srgbClr val="E8A317"/>
                </a:solidFill>
                <a:latin typeface="Calibri"/>
              </a:rPr>
              <a:t>+14%</a:t>
            </a:r>
          </a:p>
        </p:txBody>
      </p:sp>
      <p:sp>
        <p:nvSpPr>
          <p:cNvPr id="13" name="TextBox 12"/>
          <p:cNvSpPr txBox="1"/>
          <p:nvPr/>
        </p:nvSpPr>
        <p:spPr>
          <a:xfrm>
            <a:off x="7955280" y="3977640"/>
            <a:ext cx="3383280" cy="411480"/>
          </a:xfrm>
          <a:prstGeom prst="rect">
            <a:avLst/>
          </a:prstGeom>
          <a:noFill/>
        </p:spPr>
        <p:txBody>
          <a:bodyPr wrap="square" lIns="0" rIns="0" tIns="0" bIns="0" anchor="t">
            <a:spAutoFit/>
          </a:bodyPr>
          <a:lstStyle/>
          <a:p>
            <a:pPr algn="l"/>
            <a:r>
              <a:rPr sz="1100" b="0" i="0">
                <a:solidFill>
                  <a:srgbClr val="FFFFFF"/>
                </a:solidFill>
                <a:latin typeface="Calibri"/>
              </a:rPr>
              <a:t>FY25 net revenue growth, accelerating on contracted ramp</a:t>
            </a:r>
          </a:p>
        </p:txBody>
      </p:sp>
      <p:sp>
        <p:nvSpPr>
          <p:cNvPr id="14" name="TextBox 13"/>
          <p:cNvSpPr txBox="1"/>
          <p:nvPr/>
        </p:nvSpPr>
        <p:spPr>
          <a:xfrm>
            <a:off x="7955280" y="4434840"/>
            <a:ext cx="3383280" cy="502920"/>
          </a:xfrm>
          <a:prstGeom prst="rect">
            <a:avLst/>
          </a:prstGeom>
          <a:noFill/>
        </p:spPr>
        <p:txBody>
          <a:bodyPr wrap="square" lIns="0" rIns="0" tIns="0" bIns="0" anchor="t">
            <a:spAutoFit/>
          </a:bodyPr>
          <a:lstStyle/>
          <a:p>
            <a:pPr algn="l"/>
            <a:r>
              <a:rPr sz="2400" b="1" i="0">
                <a:solidFill>
                  <a:srgbClr val="E8A317"/>
                </a:solidFill>
                <a:latin typeface="Calibri"/>
              </a:rPr>
              <a:t>A$2.2bn</a:t>
            </a:r>
          </a:p>
        </p:txBody>
      </p:sp>
      <p:sp>
        <p:nvSpPr>
          <p:cNvPr id="15" name="TextBox 14"/>
          <p:cNvSpPr txBox="1"/>
          <p:nvPr/>
        </p:nvSpPr>
        <p:spPr>
          <a:xfrm>
            <a:off x="7955280" y="4937760"/>
            <a:ext cx="3383280" cy="411480"/>
          </a:xfrm>
          <a:prstGeom prst="rect">
            <a:avLst/>
          </a:prstGeom>
          <a:noFill/>
        </p:spPr>
        <p:txBody>
          <a:bodyPr wrap="square" lIns="0" rIns="0" tIns="0" bIns="0" anchor="t">
            <a:spAutoFit/>
          </a:bodyPr>
          <a:lstStyle/>
          <a:p>
            <a:pPr algn="l"/>
            <a:r>
              <a:rPr sz="1100" b="0" i="0">
                <a:solidFill>
                  <a:srgbClr val="FFFFFF"/>
                </a:solidFill>
                <a:latin typeface="Calibri"/>
              </a:rPr>
              <a:t>Capital plan funds the contracted build pipeline</a:t>
            </a:r>
          </a:p>
        </p:txBody>
      </p:sp>
      <p:sp>
        <p:nvSpPr>
          <p:cNvPr id="16" name="TextBox 15"/>
          <p:cNvSpPr txBox="1"/>
          <p:nvPr/>
        </p:nvSpPr>
        <p:spPr>
          <a:xfrm>
            <a:off x="7955280" y="5394960"/>
            <a:ext cx="3383280" cy="502920"/>
          </a:xfrm>
          <a:prstGeom prst="rect">
            <a:avLst/>
          </a:prstGeom>
          <a:noFill/>
        </p:spPr>
        <p:txBody>
          <a:bodyPr wrap="square" lIns="0" rIns="0" tIns="0" bIns="0" anchor="t">
            <a:spAutoFit/>
          </a:bodyPr>
          <a:lstStyle/>
          <a:p>
            <a:pPr algn="l"/>
            <a:r>
              <a:rPr sz="2400" b="1" i="0">
                <a:solidFill>
                  <a:srgbClr val="E8A317"/>
                </a:solidFill>
                <a:latin typeface="Calibri"/>
              </a:rPr>
              <a:t>~85%</a:t>
            </a:r>
          </a:p>
        </p:txBody>
      </p:sp>
      <p:sp>
        <p:nvSpPr>
          <p:cNvPr id="17" name="TextBox 16"/>
          <p:cNvSpPr txBox="1"/>
          <p:nvPr/>
        </p:nvSpPr>
        <p:spPr>
          <a:xfrm>
            <a:off x="7955280" y="5897880"/>
            <a:ext cx="3383280" cy="411480"/>
          </a:xfrm>
          <a:prstGeom prst="rect">
            <a:avLst/>
          </a:prstGeom>
          <a:noFill/>
        </p:spPr>
        <p:txBody>
          <a:bodyPr wrap="square" lIns="0" rIns="0" tIns="0" bIns="0" anchor="t">
            <a:spAutoFit/>
          </a:bodyPr>
          <a:lstStyle/>
          <a:p>
            <a:pPr algn="l"/>
            <a:r>
              <a:rPr sz="1100" b="0" i="0">
                <a:solidFill>
                  <a:srgbClr val="FFFFFF"/>
                </a:solidFill>
                <a:latin typeface="Calibri"/>
              </a:rPr>
              <a:t>Of forward order book expected in billings by FY27</a:t>
            </a:r>
          </a:p>
        </p:txBody>
      </p:sp>
      <p:sp>
        <p:nvSpPr>
          <p:cNvPr id="18" name="Rectangle 17"/>
          <p:cNvSpPr/>
          <p:nvPr/>
        </p:nvSpPr>
        <p:spPr>
          <a:xfrm>
            <a:off x="0" y="6565392"/>
            <a:ext cx="12191695" cy="292608"/>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6601968"/>
            <a:ext cx="8229600" cy="256032"/>
          </a:xfrm>
          <a:prstGeom prst="rect">
            <a:avLst/>
          </a:prstGeom>
          <a:noFill/>
        </p:spPr>
        <p:txBody>
          <a:bodyPr wrap="square" lIns="0" rIns="0" tIns="0" bIns="0" anchor="ctr">
            <a:spAutoFit/>
          </a:bodyPr>
          <a:lstStyle/>
          <a:p>
            <a:pPr algn="l"/>
            <a:r>
              <a:rPr sz="1000" b="0" i="0">
                <a:solidFill>
                  <a:srgbClr val="FFFFFF"/>
                </a:solidFill>
                <a:latin typeface="Calibri"/>
              </a:rPr>
              <a:t>BEX3000 · Investment Recommendation  ·  Speaker 5</a:t>
            </a:r>
          </a:p>
        </p:txBody>
      </p:sp>
      <p:sp>
        <p:nvSpPr>
          <p:cNvPr id="20" name="TextBox 19"/>
          <p:cNvSpPr txBox="1"/>
          <p:nvPr/>
        </p:nvSpPr>
        <p:spPr>
          <a:xfrm>
            <a:off x="10515600" y="6601968"/>
            <a:ext cx="1280160" cy="256032"/>
          </a:xfrm>
          <a:prstGeom prst="rect">
            <a:avLst/>
          </a:prstGeom>
          <a:noFill/>
        </p:spPr>
        <p:txBody>
          <a:bodyPr wrap="square" lIns="0" rIns="0" tIns="0" bIns="0" anchor="ctr">
            <a:spAutoFit/>
          </a:bodyPr>
          <a:lstStyle/>
          <a:p>
            <a:pPr algn="r"/>
            <a:r>
              <a:rPr sz="1000" b="0" i="0">
                <a:solidFill>
                  <a:srgbClr val="FFFFFF"/>
                </a:solidFill>
                <a:latin typeface="Calibri"/>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274320"/>
          </a:xfrm>
          <a:prstGeom prst="rect">
            <a:avLst/>
          </a:prstGeom>
          <a:noFill/>
        </p:spPr>
        <p:txBody>
          <a:bodyPr wrap="square" lIns="0" rIns="0" tIns="0" bIns="0" anchor="t">
            <a:spAutoFit/>
          </a:bodyPr>
          <a:lstStyle/>
          <a:p>
            <a:pPr algn="l"/>
            <a:r>
              <a:rPr sz="1100" b="1" i="0">
                <a:solidFill>
                  <a:srgbClr val="E8A317"/>
                </a:solidFill>
                <a:latin typeface="Calibri"/>
              </a:rPr>
              <a:t>06 · THE CASE · OPERATIONS &amp; ESG</a:t>
            </a:r>
          </a:p>
        </p:txBody>
      </p:sp>
      <p:sp>
        <p:nvSpPr>
          <p:cNvPr id="5" name="Rectangle 4"/>
          <p:cNvSpPr/>
          <p:nvPr/>
        </p:nvSpPr>
        <p:spPr>
          <a:xfrm>
            <a:off x="411480" y="914400"/>
            <a:ext cx="73152" cy="50292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868680"/>
            <a:ext cx="10972800" cy="640080"/>
          </a:xfrm>
          <a:prstGeom prst="rect">
            <a:avLst/>
          </a:prstGeom>
          <a:noFill/>
        </p:spPr>
        <p:txBody>
          <a:bodyPr wrap="square" lIns="0" rIns="0" tIns="0" bIns="0" anchor="t">
            <a:spAutoFit/>
          </a:bodyPr>
          <a:lstStyle/>
          <a:p>
            <a:pPr algn="l"/>
            <a:r>
              <a:rPr sz="3000" b="1" i="0">
                <a:solidFill>
                  <a:srgbClr val="072A66"/>
                </a:solidFill>
                <a:latin typeface="Calibri"/>
              </a:rPr>
              <a:t>NextDC — operations &amp; ESG</a:t>
            </a:r>
          </a:p>
        </p:txBody>
      </p:sp>
      <p:sp>
        <p:nvSpPr>
          <p:cNvPr id="7" name="Rectangle 6"/>
          <p:cNvSpPr/>
          <p:nvPr/>
        </p:nvSpPr>
        <p:spPr>
          <a:xfrm>
            <a:off x="640080" y="1920240"/>
            <a:ext cx="3657600" cy="14630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920240"/>
            <a:ext cx="73152" cy="146304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103120"/>
            <a:ext cx="3108960" cy="502920"/>
          </a:xfrm>
          <a:prstGeom prst="rect">
            <a:avLst/>
          </a:prstGeom>
          <a:noFill/>
        </p:spPr>
        <p:txBody>
          <a:bodyPr wrap="square" lIns="0" rIns="0" tIns="0" bIns="0" anchor="t">
            <a:spAutoFit/>
          </a:bodyPr>
          <a:lstStyle/>
          <a:p>
            <a:pPr algn="l"/>
            <a:r>
              <a:rPr sz="2000" b="1" i="0">
                <a:solidFill>
                  <a:srgbClr val="072A66"/>
                </a:solidFill>
                <a:latin typeface="Calibri"/>
              </a:rPr>
              <a:t>Tier III / IV</a:t>
            </a:r>
          </a:p>
        </p:txBody>
      </p:sp>
      <p:sp>
        <p:nvSpPr>
          <p:cNvPr id="10" name="TextBox 9"/>
          <p:cNvSpPr txBox="1"/>
          <p:nvPr/>
        </p:nvSpPr>
        <p:spPr>
          <a:xfrm>
            <a:off x="914400" y="2697480"/>
            <a:ext cx="3108960" cy="640080"/>
          </a:xfrm>
          <a:prstGeom prst="rect">
            <a:avLst/>
          </a:prstGeom>
          <a:noFill/>
        </p:spPr>
        <p:txBody>
          <a:bodyPr wrap="square" lIns="0" rIns="0" tIns="0" bIns="0" anchor="t">
            <a:spAutoFit/>
          </a:bodyPr>
          <a:lstStyle/>
          <a:p>
            <a:pPr algn="l"/>
            <a:r>
              <a:rPr sz="1200" b="0" i="0">
                <a:solidFill>
                  <a:srgbClr val="555555"/>
                </a:solidFill>
                <a:latin typeface="Calibri"/>
              </a:rPr>
              <a:t>Certified facilities · redundant power, cooling, connectivity</a:t>
            </a:r>
          </a:p>
        </p:txBody>
      </p:sp>
      <p:sp>
        <p:nvSpPr>
          <p:cNvPr id="11" name="Rectangle 10"/>
          <p:cNvSpPr/>
          <p:nvPr/>
        </p:nvSpPr>
        <p:spPr>
          <a:xfrm>
            <a:off x="4434840" y="1920240"/>
            <a:ext cx="3657600" cy="14630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34840" y="1920240"/>
            <a:ext cx="73152" cy="146304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60" y="2103120"/>
            <a:ext cx="3108960" cy="502920"/>
          </a:xfrm>
          <a:prstGeom prst="rect">
            <a:avLst/>
          </a:prstGeom>
          <a:noFill/>
        </p:spPr>
        <p:txBody>
          <a:bodyPr wrap="square" lIns="0" rIns="0" tIns="0" bIns="0" anchor="t">
            <a:spAutoFit/>
          </a:bodyPr>
          <a:lstStyle/>
          <a:p>
            <a:pPr algn="l"/>
            <a:r>
              <a:rPr sz="2000" b="1" i="0">
                <a:solidFill>
                  <a:srgbClr val="072A66"/>
                </a:solidFill>
                <a:latin typeface="Calibri"/>
              </a:rPr>
              <a:t>Industry-leading</a:t>
            </a:r>
          </a:p>
        </p:txBody>
      </p:sp>
      <p:sp>
        <p:nvSpPr>
          <p:cNvPr id="14" name="TextBox 13"/>
          <p:cNvSpPr txBox="1"/>
          <p:nvPr/>
        </p:nvSpPr>
        <p:spPr>
          <a:xfrm>
            <a:off x="4709160" y="2697480"/>
            <a:ext cx="3108960" cy="640080"/>
          </a:xfrm>
          <a:prstGeom prst="rect">
            <a:avLst/>
          </a:prstGeom>
          <a:noFill/>
        </p:spPr>
        <p:txBody>
          <a:bodyPr wrap="square" lIns="0" rIns="0" tIns="0" bIns="0" anchor="t">
            <a:spAutoFit/>
          </a:bodyPr>
          <a:lstStyle/>
          <a:p>
            <a:pPr algn="l"/>
            <a:r>
              <a:rPr sz="1200" b="0" i="0">
                <a:solidFill>
                  <a:srgbClr val="555555"/>
                </a:solidFill>
                <a:latin typeface="Calibri"/>
              </a:rPr>
              <a:t>Power Usage Effectiveness (PUE) in Australian context</a:t>
            </a:r>
          </a:p>
        </p:txBody>
      </p:sp>
      <p:sp>
        <p:nvSpPr>
          <p:cNvPr id="15" name="Rectangle 14"/>
          <p:cNvSpPr/>
          <p:nvPr/>
        </p:nvSpPr>
        <p:spPr>
          <a:xfrm>
            <a:off x="8229600" y="1920240"/>
            <a:ext cx="3657600" cy="146304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1920240"/>
            <a:ext cx="73152" cy="146304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0" y="2103120"/>
            <a:ext cx="3108960" cy="502920"/>
          </a:xfrm>
          <a:prstGeom prst="rect">
            <a:avLst/>
          </a:prstGeom>
          <a:noFill/>
        </p:spPr>
        <p:txBody>
          <a:bodyPr wrap="square" lIns="0" rIns="0" tIns="0" bIns="0" anchor="t">
            <a:spAutoFit/>
          </a:bodyPr>
          <a:lstStyle/>
          <a:p>
            <a:pPr algn="l"/>
            <a:r>
              <a:rPr sz="2000" b="1" i="0">
                <a:solidFill>
                  <a:srgbClr val="072A66"/>
                </a:solidFill>
                <a:latin typeface="Calibri"/>
              </a:rPr>
              <a:t>Renewable PPAs</a:t>
            </a:r>
          </a:p>
        </p:txBody>
      </p:sp>
      <p:sp>
        <p:nvSpPr>
          <p:cNvPr id="18" name="TextBox 17"/>
          <p:cNvSpPr txBox="1"/>
          <p:nvPr/>
        </p:nvSpPr>
        <p:spPr>
          <a:xfrm>
            <a:off x="8503920" y="2697480"/>
            <a:ext cx="3108960" cy="640080"/>
          </a:xfrm>
          <a:prstGeom prst="rect">
            <a:avLst/>
          </a:prstGeom>
          <a:noFill/>
        </p:spPr>
        <p:txBody>
          <a:bodyPr wrap="square" lIns="0" rIns="0" tIns="0" bIns="0" anchor="t">
            <a:spAutoFit/>
          </a:bodyPr>
          <a:lstStyle/>
          <a:p>
            <a:pPr algn="l"/>
            <a:r>
              <a:rPr sz="1200" b="0" i="0">
                <a:solidFill>
                  <a:srgbClr val="555555"/>
                </a:solidFill>
                <a:latin typeface="Calibri"/>
              </a:rPr>
              <a:t>Plus on-site solar at selected facilities</a:t>
            </a:r>
          </a:p>
        </p:txBody>
      </p:sp>
      <p:sp>
        <p:nvSpPr>
          <p:cNvPr id="19" name="Rectangle 18"/>
          <p:cNvSpPr/>
          <p:nvPr/>
        </p:nvSpPr>
        <p:spPr>
          <a:xfrm>
            <a:off x="640080" y="3703320"/>
            <a:ext cx="10972800" cy="24688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931920"/>
            <a:ext cx="10515600" cy="365760"/>
          </a:xfrm>
          <a:prstGeom prst="rect">
            <a:avLst/>
          </a:prstGeom>
          <a:noFill/>
        </p:spPr>
        <p:txBody>
          <a:bodyPr wrap="square" lIns="0" rIns="0" tIns="0" bIns="0" anchor="t">
            <a:spAutoFit/>
          </a:bodyPr>
          <a:lstStyle/>
          <a:p>
            <a:pPr algn="l"/>
            <a:r>
              <a:rPr sz="1200" b="1" i="0">
                <a:solidFill>
                  <a:srgbClr val="E8A317"/>
                </a:solidFill>
                <a:latin typeface="Calibri"/>
              </a:rPr>
              <a:t>OPERATIONAL &amp; ESG STRATEGY</a:t>
            </a:r>
          </a:p>
        </p:txBody>
      </p:sp>
      <p:sp>
        <p:nvSpPr>
          <p:cNvPr id="21" name="TextBox 20"/>
          <p:cNvSpPr txBox="1"/>
          <p:nvPr/>
        </p:nvSpPr>
        <p:spPr>
          <a:xfrm>
            <a:off x="914400" y="4343400"/>
            <a:ext cx="10515600" cy="1828800"/>
          </a:xfrm>
          <a:prstGeom prst="rect">
            <a:avLst/>
          </a:prstGeom>
          <a:noFill/>
        </p:spPr>
        <p:txBody>
          <a:bodyPr wrap="square" lIns="0" rIns="0" tIns="0" bIns="0">
            <a:spAutoFit/>
          </a:bodyPr>
          <a:lstStyle/>
          <a:p>
            <a:pPr algn="l">
              <a:lnSpc>
                <a:spcPct val="115000"/>
              </a:lnSpc>
            </a:pPr>
            <a:r>
              <a:rPr sz="1400" b="1">
                <a:solidFill>
                  <a:srgbClr val="E8A317"/>
                </a:solidFill>
                <a:latin typeface="Calibri"/>
              </a:rPr>
              <a:t>•  </a:t>
            </a:r>
            <a:r>
              <a:rPr sz="1400" b="0" i="0">
                <a:solidFill>
                  <a:srgbClr val="FFFFFF"/>
                </a:solidFill>
                <a:latin typeface="Calibri"/>
              </a:rPr>
              <a:t>Modular build discipline — capacity comes online matched to contracted demand, protecting cash burn and utilisation rates.</a:t>
            </a:r>
          </a:p>
          <a:p>
            <a:pPr algn="l">
              <a:lnSpc>
                <a:spcPct val="115000"/>
              </a:lnSpc>
              <a:spcBef>
                <a:spcPts val="600"/>
              </a:spcBef>
            </a:pPr>
            <a:r>
              <a:rPr sz="1400" b="1">
                <a:solidFill>
                  <a:srgbClr val="E8A317"/>
                </a:solidFill>
                <a:latin typeface="Calibri"/>
              </a:rPr>
              <a:t>•  </a:t>
            </a:r>
            <a:r>
              <a:rPr sz="1400" b="0" i="0">
                <a:solidFill>
                  <a:srgbClr val="FFFFFF"/>
                </a:solidFill>
                <a:latin typeface="Calibri"/>
              </a:rPr>
              <a:t>ESG is not a constraint — it is a competitive moat. Hyperscaler customers are themselves under net-zero commitments, and procurement increasingly mandates renewable-powered colocation.</a:t>
            </a:r>
          </a:p>
          <a:p>
            <a:pPr algn="l">
              <a:lnSpc>
                <a:spcPct val="115000"/>
              </a:lnSpc>
              <a:spcBef>
                <a:spcPts val="600"/>
              </a:spcBef>
            </a:pPr>
            <a:r>
              <a:rPr sz="1400" b="1">
                <a:solidFill>
                  <a:srgbClr val="E8A317"/>
                </a:solidFill>
                <a:latin typeface="Calibri"/>
              </a:rPr>
              <a:t>•  </a:t>
            </a:r>
            <a:r>
              <a:rPr sz="1400" b="0" i="0">
                <a:solidFill>
                  <a:srgbClr val="FFFFFF"/>
                </a:solidFill>
                <a:latin typeface="Calibri"/>
              </a:rPr>
              <a:t>Older or smaller operators can't easily match the combination of PUE, renewables, and Tier IV certification.</a:t>
            </a:r>
          </a:p>
        </p:txBody>
      </p:sp>
      <p:sp>
        <p:nvSpPr>
          <p:cNvPr id="22" name="Rectangle 21"/>
          <p:cNvSpPr/>
          <p:nvPr/>
        </p:nvSpPr>
        <p:spPr>
          <a:xfrm>
            <a:off x="0" y="6565392"/>
            <a:ext cx="12191695" cy="292608"/>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6601968"/>
            <a:ext cx="8229600" cy="256032"/>
          </a:xfrm>
          <a:prstGeom prst="rect">
            <a:avLst/>
          </a:prstGeom>
          <a:noFill/>
        </p:spPr>
        <p:txBody>
          <a:bodyPr wrap="square" lIns="0" rIns="0" tIns="0" bIns="0" anchor="ctr">
            <a:spAutoFit/>
          </a:bodyPr>
          <a:lstStyle/>
          <a:p>
            <a:pPr algn="l"/>
            <a:r>
              <a:rPr sz="1000" b="0" i="0">
                <a:solidFill>
                  <a:srgbClr val="FFFFFF"/>
                </a:solidFill>
                <a:latin typeface="Calibri"/>
              </a:rPr>
              <a:t>BEX3000 · Investment Recommendation  ·  Speaker 6</a:t>
            </a:r>
          </a:p>
        </p:txBody>
      </p:sp>
      <p:sp>
        <p:nvSpPr>
          <p:cNvPr id="24" name="TextBox 23"/>
          <p:cNvSpPr txBox="1"/>
          <p:nvPr/>
        </p:nvSpPr>
        <p:spPr>
          <a:xfrm>
            <a:off x="10515600" y="6601968"/>
            <a:ext cx="1280160" cy="256032"/>
          </a:xfrm>
          <a:prstGeom prst="rect">
            <a:avLst/>
          </a:prstGeom>
          <a:noFill/>
        </p:spPr>
        <p:txBody>
          <a:bodyPr wrap="square" lIns="0" rIns="0" tIns="0" bIns="0" anchor="ctr">
            <a:spAutoFit/>
          </a:bodyPr>
          <a:lstStyle/>
          <a:p>
            <a:pPr algn="r"/>
            <a:r>
              <a:rPr sz="1000" b="0" i="0">
                <a:solidFill>
                  <a:srgbClr val="FFFFFF"/>
                </a:solidFill>
                <a:latin typeface="Calibri"/>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274320"/>
          </a:xfrm>
          <a:prstGeom prst="rect">
            <a:avLst/>
          </a:prstGeom>
          <a:noFill/>
        </p:spPr>
        <p:txBody>
          <a:bodyPr wrap="square" lIns="0" rIns="0" tIns="0" bIns="0" anchor="t">
            <a:spAutoFit/>
          </a:bodyPr>
          <a:lstStyle/>
          <a:p>
            <a:pPr algn="l"/>
            <a:r>
              <a:rPr sz="1100" b="1" i="0">
                <a:solidFill>
                  <a:srgbClr val="E8A317"/>
                </a:solidFill>
                <a:latin typeface="Calibri"/>
              </a:rPr>
              <a:t>07 · RISK ASSESSMENT</a:t>
            </a:r>
          </a:p>
        </p:txBody>
      </p:sp>
      <p:sp>
        <p:nvSpPr>
          <p:cNvPr id="5" name="Rectangle 4"/>
          <p:cNvSpPr/>
          <p:nvPr/>
        </p:nvSpPr>
        <p:spPr>
          <a:xfrm>
            <a:off x="411480" y="914400"/>
            <a:ext cx="73152" cy="50292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868680"/>
            <a:ext cx="10972800" cy="640080"/>
          </a:xfrm>
          <a:prstGeom prst="rect">
            <a:avLst/>
          </a:prstGeom>
          <a:noFill/>
        </p:spPr>
        <p:txBody>
          <a:bodyPr wrap="square" lIns="0" rIns="0" tIns="0" bIns="0" anchor="t">
            <a:spAutoFit/>
          </a:bodyPr>
          <a:lstStyle/>
          <a:p>
            <a:pPr algn="l"/>
            <a:r>
              <a:rPr sz="3000" b="1" i="0">
                <a:solidFill>
                  <a:srgbClr val="072A66"/>
                </a:solidFill>
                <a:latin typeface="Calibri"/>
              </a:rPr>
              <a:t>Key risks to the thesis</a:t>
            </a:r>
          </a:p>
        </p:txBody>
      </p:sp>
      <p:sp>
        <p:nvSpPr>
          <p:cNvPr id="7" name="Rectangle 6"/>
          <p:cNvSpPr/>
          <p:nvPr/>
        </p:nvSpPr>
        <p:spPr>
          <a:xfrm>
            <a:off x="640080" y="1874519"/>
            <a:ext cx="5577840" cy="196596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874519"/>
            <a:ext cx="91440" cy="1965960"/>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19"/>
            <a:ext cx="457200" cy="457200"/>
          </a:xfrm>
          <a:prstGeom prst="rect">
            <a:avLst/>
          </a:prstGeom>
          <a:noFill/>
        </p:spPr>
        <p:txBody>
          <a:bodyPr wrap="square" lIns="0" rIns="0" tIns="0" bIns="0" anchor="t">
            <a:spAutoFit/>
          </a:bodyPr>
          <a:lstStyle/>
          <a:p>
            <a:pPr algn="l"/>
            <a:r>
              <a:rPr sz="2000" b="1" i="0">
                <a:solidFill>
                  <a:srgbClr val="E65100"/>
                </a:solidFill>
                <a:latin typeface="Calibri"/>
              </a:rPr>
              <a:t>01</a:t>
            </a:r>
          </a:p>
        </p:txBody>
      </p:sp>
      <p:sp>
        <p:nvSpPr>
          <p:cNvPr id="10" name="TextBox 9"/>
          <p:cNvSpPr txBox="1"/>
          <p:nvPr/>
        </p:nvSpPr>
        <p:spPr>
          <a:xfrm>
            <a:off x="1691640" y="2148839"/>
            <a:ext cx="4297680" cy="457200"/>
          </a:xfrm>
          <a:prstGeom prst="rect">
            <a:avLst/>
          </a:prstGeom>
          <a:noFill/>
        </p:spPr>
        <p:txBody>
          <a:bodyPr wrap="square" lIns="0" rIns="0" tIns="0" bIns="0" anchor="t">
            <a:spAutoFit/>
          </a:bodyPr>
          <a:lstStyle/>
          <a:p>
            <a:pPr algn="l"/>
            <a:r>
              <a:rPr sz="1700" b="1" i="0">
                <a:solidFill>
                  <a:srgbClr val="072A66"/>
                </a:solidFill>
                <a:latin typeface="Calibri"/>
              </a:rPr>
              <a:t>Grid power constraints</a:t>
            </a:r>
          </a:p>
        </p:txBody>
      </p:sp>
      <p:sp>
        <p:nvSpPr>
          <p:cNvPr id="11" name="TextBox 10"/>
          <p:cNvSpPr txBox="1"/>
          <p:nvPr/>
        </p:nvSpPr>
        <p:spPr>
          <a:xfrm>
            <a:off x="1691640" y="2743199"/>
            <a:ext cx="4297680" cy="1005840"/>
          </a:xfrm>
          <a:prstGeom prst="rect">
            <a:avLst/>
          </a:prstGeom>
          <a:noFill/>
        </p:spPr>
        <p:txBody>
          <a:bodyPr wrap="square" lIns="0" rIns="0" tIns="0" bIns="0" anchor="t">
            <a:spAutoFit/>
          </a:bodyPr>
          <a:lstStyle/>
          <a:p>
            <a:pPr algn="l"/>
            <a:r>
              <a:rPr sz="1300" b="0" i="0">
                <a:solidFill>
                  <a:srgbClr val="2A2A2A"/>
                </a:solidFill>
                <a:latin typeface="Calibri"/>
              </a:rPr>
              <a:t>Sydney and Melbourne grid capacity could delay commissioning, slowing order-book conversion.</a:t>
            </a:r>
          </a:p>
        </p:txBody>
      </p:sp>
      <p:sp>
        <p:nvSpPr>
          <p:cNvPr id="12" name="Rectangle 11"/>
          <p:cNvSpPr/>
          <p:nvPr/>
        </p:nvSpPr>
        <p:spPr>
          <a:xfrm>
            <a:off x="6446520" y="1874519"/>
            <a:ext cx="5577840" cy="196596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46520" y="1874519"/>
            <a:ext cx="91440" cy="1965960"/>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0" y="2103119"/>
            <a:ext cx="457200" cy="457200"/>
          </a:xfrm>
          <a:prstGeom prst="rect">
            <a:avLst/>
          </a:prstGeom>
          <a:noFill/>
        </p:spPr>
        <p:txBody>
          <a:bodyPr wrap="square" lIns="0" rIns="0" tIns="0" bIns="0" anchor="t">
            <a:spAutoFit/>
          </a:bodyPr>
          <a:lstStyle/>
          <a:p>
            <a:pPr algn="l"/>
            <a:r>
              <a:rPr sz="2000" b="1" i="0">
                <a:solidFill>
                  <a:srgbClr val="E65100"/>
                </a:solidFill>
                <a:latin typeface="Calibri"/>
              </a:rPr>
              <a:t>02</a:t>
            </a:r>
          </a:p>
        </p:txBody>
      </p:sp>
      <p:sp>
        <p:nvSpPr>
          <p:cNvPr id="15" name="TextBox 14"/>
          <p:cNvSpPr txBox="1"/>
          <p:nvPr/>
        </p:nvSpPr>
        <p:spPr>
          <a:xfrm>
            <a:off x="7498080" y="2148839"/>
            <a:ext cx="4297680" cy="457200"/>
          </a:xfrm>
          <a:prstGeom prst="rect">
            <a:avLst/>
          </a:prstGeom>
          <a:noFill/>
        </p:spPr>
        <p:txBody>
          <a:bodyPr wrap="square" lIns="0" rIns="0" tIns="0" bIns="0" anchor="t">
            <a:spAutoFit/>
          </a:bodyPr>
          <a:lstStyle/>
          <a:p>
            <a:pPr algn="l"/>
            <a:r>
              <a:rPr sz="1700" b="1" i="0">
                <a:solidFill>
                  <a:srgbClr val="072A66"/>
                </a:solidFill>
                <a:latin typeface="Calibri"/>
              </a:rPr>
              <a:t>Hyperscaler in-sourcing</a:t>
            </a:r>
          </a:p>
        </p:txBody>
      </p:sp>
      <p:sp>
        <p:nvSpPr>
          <p:cNvPr id="16" name="TextBox 15"/>
          <p:cNvSpPr txBox="1"/>
          <p:nvPr/>
        </p:nvSpPr>
        <p:spPr>
          <a:xfrm>
            <a:off x="7498080" y="2743199"/>
            <a:ext cx="4297680" cy="1005840"/>
          </a:xfrm>
          <a:prstGeom prst="rect">
            <a:avLst/>
          </a:prstGeom>
          <a:noFill/>
        </p:spPr>
        <p:txBody>
          <a:bodyPr wrap="square" lIns="0" rIns="0" tIns="0" bIns="0" anchor="t">
            <a:spAutoFit/>
          </a:bodyPr>
          <a:lstStyle/>
          <a:p>
            <a:pPr algn="l"/>
            <a:r>
              <a:rPr sz="1300" b="0" i="0">
                <a:solidFill>
                  <a:srgbClr val="2A2A2A"/>
                </a:solidFill>
                <a:latin typeface="Calibri"/>
              </a:rPr>
              <a:t>Accelerated self-build by AWS, Microsoft or Google would moderate third-party demand.</a:t>
            </a:r>
          </a:p>
        </p:txBody>
      </p:sp>
      <p:sp>
        <p:nvSpPr>
          <p:cNvPr id="17" name="Rectangle 16"/>
          <p:cNvSpPr/>
          <p:nvPr/>
        </p:nvSpPr>
        <p:spPr>
          <a:xfrm>
            <a:off x="640080" y="4069079"/>
            <a:ext cx="5577840" cy="196596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4069079"/>
            <a:ext cx="91440" cy="1965960"/>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4297679"/>
            <a:ext cx="457200" cy="457200"/>
          </a:xfrm>
          <a:prstGeom prst="rect">
            <a:avLst/>
          </a:prstGeom>
          <a:noFill/>
        </p:spPr>
        <p:txBody>
          <a:bodyPr wrap="square" lIns="0" rIns="0" tIns="0" bIns="0" anchor="t">
            <a:spAutoFit/>
          </a:bodyPr>
          <a:lstStyle/>
          <a:p>
            <a:pPr algn="l"/>
            <a:r>
              <a:rPr sz="2000" b="1" i="0">
                <a:solidFill>
                  <a:srgbClr val="E65100"/>
                </a:solidFill>
                <a:latin typeface="Calibri"/>
              </a:rPr>
              <a:t>03</a:t>
            </a:r>
          </a:p>
        </p:txBody>
      </p:sp>
      <p:sp>
        <p:nvSpPr>
          <p:cNvPr id="20" name="TextBox 19"/>
          <p:cNvSpPr txBox="1"/>
          <p:nvPr/>
        </p:nvSpPr>
        <p:spPr>
          <a:xfrm>
            <a:off x="1691640" y="4343399"/>
            <a:ext cx="4297680" cy="457200"/>
          </a:xfrm>
          <a:prstGeom prst="rect">
            <a:avLst/>
          </a:prstGeom>
          <a:noFill/>
        </p:spPr>
        <p:txBody>
          <a:bodyPr wrap="square" lIns="0" rIns="0" tIns="0" bIns="0" anchor="t">
            <a:spAutoFit/>
          </a:bodyPr>
          <a:lstStyle/>
          <a:p>
            <a:pPr algn="l"/>
            <a:r>
              <a:rPr sz="1700" b="1" i="0">
                <a:solidFill>
                  <a:srgbClr val="072A66"/>
                </a:solidFill>
                <a:latin typeface="Calibri"/>
              </a:rPr>
              <a:t>Cost of capital</a:t>
            </a:r>
          </a:p>
        </p:txBody>
      </p:sp>
      <p:sp>
        <p:nvSpPr>
          <p:cNvPr id="21" name="TextBox 20"/>
          <p:cNvSpPr txBox="1"/>
          <p:nvPr/>
        </p:nvSpPr>
        <p:spPr>
          <a:xfrm>
            <a:off x="1691640" y="4937759"/>
            <a:ext cx="4297680" cy="1005840"/>
          </a:xfrm>
          <a:prstGeom prst="rect">
            <a:avLst/>
          </a:prstGeom>
          <a:noFill/>
        </p:spPr>
        <p:txBody>
          <a:bodyPr wrap="square" lIns="0" rIns="0" tIns="0" bIns="0" anchor="t">
            <a:spAutoFit/>
          </a:bodyPr>
          <a:lstStyle/>
          <a:p>
            <a:pPr algn="l"/>
            <a:r>
              <a:rPr sz="1300" b="0" i="0">
                <a:solidFill>
                  <a:srgbClr val="2A2A2A"/>
                </a:solidFill>
                <a:latin typeface="Calibri"/>
              </a:rPr>
              <a:t>Higher long rates lift the cost of the A$2.2bn capital plan and compress equity valuation.</a:t>
            </a:r>
          </a:p>
        </p:txBody>
      </p:sp>
      <p:sp>
        <p:nvSpPr>
          <p:cNvPr id="22" name="Rectangle 21"/>
          <p:cNvSpPr/>
          <p:nvPr/>
        </p:nvSpPr>
        <p:spPr>
          <a:xfrm>
            <a:off x="6446520" y="4069079"/>
            <a:ext cx="5577840" cy="196596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46520" y="4069079"/>
            <a:ext cx="91440" cy="1965960"/>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0" y="4297679"/>
            <a:ext cx="457200" cy="457200"/>
          </a:xfrm>
          <a:prstGeom prst="rect">
            <a:avLst/>
          </a:prstGeom>
          <a:noFill/>
        </p:spPr>
        <p:txBody>
          <a:bodyPr wrap="square" lIns="0" rIns="0" tIns="0" bIns="0" anchor="t">
            <a:spAutoFit/>
          </a:bodyPr>
          <a:lstStyle/>
          <a:p>
            <a:pPr algn="l"/>
            <a:r>
              <a:rPr sz="2000" b="1" i="0">
                <a:solidFill>
                  <a:srgbClr val="E65100"/>
                </a:solidFill>
                <a:latin typeface="Calibri"/>
              </a:rPr>
              <a:t>04</a:t>
            </a:r>
          </a:p>
        </p:txBody>
      </p:sp>
      <p:sp>
        <p:nvSpPr>
          <p:cNvPr id="25" name="TextBox 24"/>
          <p:cNvSpPr txBox="1"/>
          <p:nvPr/>
        </p:nvSpPr>
        <p:spPr>
          <a:xfrm>
            <a:off x="7498080" y="4343399"/>
            <a:ext cx="4297680" cy="457200"/>
          </a:xfrm>
          <a:prstGeom prst="rect">
            <a:avLst/>
          </a:prstGeom>
          <a:noFill/>
        </p:spPr>
        <p:txBody>
          <a:bodyPr wrap="square" lIns="0" rIns="0" tIns="0" bIns="0" anchor="t">
            <a:spAutoFit/>
          </a:bodyPr>
          <a:lstStyle/>
          <a:p>
            <a:pPr algn="l"/>
            <a:r>
              <a:rPr sz="1700" b="1" i="0">
                <a:solidFill>
                  <a:srgbClr val="072A66"/>
                </a:solidFill>
                <a:latin typeface="Calibri"/>
              </a:rPr>
              <a:t>Customer concentration</a:t>
            </a:r>
          </a:p>
        </p:txBody>
      </p:sp>
      <p:sp>
        <p:nvSpPr>
          <p:cNvPr id="26" name="TextBox 25"/>
          <p:cNvSpPr txBox="1"/>
          <p:nvPr/>
        </p:nvSpPr>
        <p:spPr>
          <a:xfrm>
            <a:off x="7498080" y="4937759"/>
            <a:ext cx="4297680" cy="1005840"/>
          </a:xfrm>
          <a:prstGeom prst="rect">
            <a:avLst/>
          </a:prstGeom>
          <a:noFill/>
        </p:spPr>
        <p:txBody>
          <a:bodyPr wrap="square" lIns="0" rIns="0" tIns="0" bIns="0" anchor="t">
            <a:spAutoFit/>
          </a:bodyPr>
          <a:lstStyle/>
          <a:p>
            <a:pPr algn="l"/>
            <a:r>
              <a:rPr sz="1300" b="0" i="0">
                <a:solidFill>
                  <a:srgbClr val="2A2A2A"/>
                </a:solidFill>
                <a:latin typeface="Calibri"/>
              </a:rPr>
              <a:t>Top customers anchor contracted revenue — non-renewal of a top-tier contract is materially adverse.</a:t>
            </a:r>
          </a:p>
        </p:txBody>
      </p:sp>
      <p:sp>
        <p:nvSpPr>
          <p:cNvPr id="27" name="Rectangle 26"/>
          <p:cNvSpPr/>
          <p:nvPr/>
        </p:nvSpPr>
        <p:spPr>
          <a:xfrm>
            <a:off x="0" y="6565392"/>
            <a:ext cx="12191695" cy="292608"/>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601968"/>
            <a:ext cx="8229600" cy="256032"/>
          </a:xfrm>
          <a:prstGeom prst="rect">
            <a:avLst/>
          </a:prstGeom>
          <a:noFill/>
        </p:spPr>
        <p:txBody>
          <a:bodyPr wrap="square" lIns="0" rIns="0" tIns="0" bIns="0" anchor="ctr">
            <a:spAutoFit/>
          </a:bodyPr>
          <a:lstStyle/>
          <a:p>
            <a:pPr algn="l"/>
            <a:r>
              <a:rPr sz="1000" b="0" i="0">
                <a:solidFill>
                  <a:srgbClr val="FFFFFF"/>
                </a:solidFill>
                <a:latin typeface="Calibri"/>
              </a:rPr>
              <a:t>BEX3000 · Investment Recommendation  ·  Speaker 6</a:t>
            </a:r>
          </a:p>
        </p:txBody>
      </p:sp>
      <p:sp>
        <p:nvSpPr>
          <p:cNvPr id="29" name="TextBox 28"/>
          <p:cNvSpPr txBox="1"/>
          <p:nvPr/>
        </p:nvSpPr>
        <p:spPr>
          <a:xfrm>
            <a:off x="10515600" y="6601968"/>
            <a:ext cx="1280160" cy="256032"/>
          </a:xfrm>
          <a:prstGeom prst="rect">
            <a:avLst/>
          </a:prstGeom>
          <a:noFill/>
        </p:spPr>
        <p:txBody>
          <a:bodyPr wrap="square" lIns="0" rIns="0" tIns="0" bIns="0" anchor="ctr">
            <a:spAutoFit/>
          </a:bodyPr>
          <a:lstStyle/>
          <a:p>
            <a:pPr algn="r"/>
            <a:r>
              <a:rPr sz="1000" b="0" i="0">
                <a:solidFill>
                  <a:srgbClr val="FFFFFF"/>
                </a:solidFill>
                <a:latin typeface="Calibri"/>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731520"/>
            <a:ext cx="777240" cy="73152"/>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868680"/>
            <a:ext cx="10972800" cy="365760"/>
          </a:xfrm>
          <a:prstGeom prst="rect">
            <a:avLst/>
          </a:prstGeom>
          <a:noFill/>
        </p:spPr>
        <p:txBody>
          <a:bodyPr wrap="square" lIns="0" rIns="0" tIns="0" bIns="0" anchor="t">
            <a:spAutoFit/>
          </a:bodyPr>
          <a:lstStyle/>
          <a:p>
            <a:pPr algn="l"/>
            <a:r>
              <a:rPr sz="1300" b="1" i="0">
                <a:solidFill>
                  <a:srgbClr val="E8A317"/>
                </a:solidFill>
                <a:latin typeface="Calibri"/>
              </a:rPr>
              <a:t>08 · RECOMMENDATION</a:t>
            </a:r>
          </a:p>
        </p:txBody>
      </p:sp>
      <p:sp>
        <p:nvSpPr>
          <p:cNvPr id="5" name="TextBox 4"/>
          <p:cNvSpPr txBox="1"/>
          <p:nvPr/>
        </p:nvSpPr>
        <p:spPr>
          <a:xfrm>
            <a:off x="640080" y="1417320"/>
            <a:ext cx="10972800" cy="1097280"/>
          </a:xfrm>
          <a:prstGeom prst="rect">
            <a:avLst/>
          </a:prstGeom>
          <a:noFill/>
        </p:spPr>
        <p:txBody>
          <a:bodyPr wrap="square" lIns="0" rIns="0" tIns="0" bIns="0" anchor="t">
            <a:spAutoFit/>
          </a:bodyPr>
          <a:lstStyle/>
          <a:p>
            <a:pPr algn="l"/>
            <a:r>
              <a:rPr sz="5200" b="1" i="0">
                <a:solidFill>
                  <a:srgbClr val="FFFFFF"/>
                </a:solidFill>
                <a:latin typeface="Calibri"/>
              </a:rPr>
              <a:t>Invest in NextDC.</a:t>
            </a:r>
          </a:p>
        </p:txBody>
      </p:sp>
      <p:sp>
        <p:nvSpPr>
          <p:cNvPr id="6" name="TextBox 5"/>
          <p:cNvSpPr txBox="1"/>
          <p:nvPr/>
        </p:nvSpPr>
        <p:spPr>
          <a:xfrm>
            <a:off x="640080" y="2606040"/>
            <a:ext cx="10972800" cy="457200"/>
          </a:xfrm>
          <a:prstGeom prst="rect">
            <a:avLst/>
          </a:prstGeom>
          <a:noFill/>
        </p:spPr>
        <p:txBody>
          <a:bodyPr wrap="square" lIns="0" rIns="0" tIns="0" bIns="0" anchor="t">
            <a:spAutoFit/>
          </a:bodyPr>
          <a:lstStyle/>
          <a:p>
            <a:pPr algn="l"/>
            <a:r>
              <a:rPr sz="1800" b="0" i="1">
                <a:solidFill>
                  <a:srgbClr val="E8A317"/>
                </a:solidFill>
                <a:latin typeface="Calibri"/>
              </a:rPr>
              <a:t>Three reasons it is the strongest of the three.</a:t>
            </a:r>
          </a:p>
        </p:txBody>
      </p:sp>
      <p:sp>
        <p:nvSpPr>
          <p:cNvPr id="7" name="Rectangle 6"/>
          <p:cNvSpPr/>
          <p:nvPr/>
        </p:nvSpPr>
        <p:spPr>
          <a:xfrm>
            <a:off x="640080" y="3657600"/>
            <a:ext cx="365760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3657600"/>
            <a:ext cx="3657600" cy="9144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931920"/>
            <a:ext cx="3017520" cy="594360"/>
          </a:xfrm>
          <a:prstGeom prst="rect">
            <a:avLst/>
          </a:prstGeom>
          <a:noFill/>
        </p:spPr>
        <p:txBody>
          <a:bodyPr wrap="square" lIns="0" rIns="0" tIns="0" bIns="0" anchor="t">
            <a:spAutoFit/>
          </a:bodyPr>
          <a:lstStyle/>
          <a:p>
            <a:pPr algn="l"/>
            <a:r>
              <a:rPr sz="3200" b="1" i="0">
                <a:solidFill>
                  <a:srgbClr val="E8A317"/>
                </a:solidFill>
                <a:latin typeface="Calibri"/>
              </a:rPr>
              <a:t>01</a:t>
            </a:r>
          </a:p>
        </p:txBody>
      </p:sp>
      <p:sp>
        <p:nvSpPr>
          <p:cNvPr id="10" name="TextBox 9"/>
          <p:cNvSpPr txBox="1"/>
          <p:nvPr/>
        </p:nvSpPr>
        <p:spPr>
          <a:xfrm>
            <a:off x="960120" y="4572000"/>
            <a:ext cx="3017520" cy="457200"/>
          </a:xfrm>
          <a:prstGeom prst="rect">
            <a:avLst/>
          </a:prstGeom>
          <a:noFill/>
        </p:spPr>
        <p:txBody>
          <a:bodyPr wrap="square" lIns="0" rIns="0" tIns="0" bIns="0" anchor="t">
            <a:spAutoFit/>
          </a:bodyPr>
          <a:lstStyle/>
          <a:p>
            <a:pPr algn="l"/>
            <a:r>
              <a:rPr sz="1800" b="1" i="0">
                <a:solidFill>
                  <a:srgbClr val="072A66"/>
                </a:solidFill>
                <a:latin typeface="Calibri"/>
              </a:rPr>
              <a:t>Structural growth</a:t>
            </a:r>
          </a:p>
        </p:txBody>
      </p:sp>
      <p:sp>
        <p:nvSpPr>
          <p:cNvPr id="11" name="TextBox 10"/>
          <p:cNvSpPr txBox="1"/>
          <p:nvPr/>
        </p:nvSpPr>
        <p:spPr>
          <a:xfrm>
            <a:off x="960120" y="5074920"/>
            <a:ext cx="3017520" cy="1005840"/>
          </a:xfrm>
          <a:prstGeom prst="rect">
            <a:avLst/>
          </a:prstGeom>
          <a:noFill/>
        </p:spPr>
        <p:txBody>
          <a:bodyPr wrap="square" lIns="0" rIns="0" tIns="0" bIns="0" anchor="t">
            <a:spAutoFit/>
          </a:bodyPr>
          <a:lstStyle/>
          <a:p>
            <a:pPr algn="l"/>
            <a:r>
              <a:rPr sz="1200" b="0" i="0">
                <a:solidFill>
                  <a:srgbClr val="2A2A2A"/>
                </a:solidFill>
                <a:latin typeface="Calibri"/>
              </a:rPr>
              <a:t>AI and hyperscaler demand drives multi-year capacity needs, evidenced by record 133.9 MW forward order book.</a:t>
            </a:r>
          </a:p>
        </p:txBody>
      </p:sp>
      <p:sp>
        <p:nvSpPr>
          <p:cNvPr id="12" name="Rectangle 11"/>
          <p:cNvSpPr/>
          <p:nvPr/>
        </p:nvSpPr>
        <p:spPr>
          <a:xfrm>
            <a:off x="4480560" y="3657600"/>
            <a:ext cx="365760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3657600"/>
            <a:ext cx="3657600" cy="9144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0" y="3931920"/>
            <a:ext cx="3017520" cy="594360"/>
          </a:xfrm>
          <a:prstGeom prst="rect">
            <a:avLst/>
          </a:prstGeom>
          <a:noFill/>
        </p:spPr>
        <p:txBody>
          <a:bodyPr wrap="square" lIns="0" rIns="0" tIns="0" bIns="0" anchor="t">
            <a:spAutoFit/>
          </a:bodyPr>
          <a:lstStyle/>
          <a:p>
            <a:pPr algn="l"/>
            <a:r>
              <a:rPr sz="3200" b="1" i="0">
                <a:solidFill>
                  <a:srgbClr val="E8A317"/>
                </a:solidFill>
                <a:latin typeface="Calibri"/>
              </a:rPr>
              <a:t>02</a:t>
            </a:r>
          </a:p>
        </p:txBody>
      </p:sp>
      <p:sp>
        <p:nvSpPr>
          <p:cNvPr id="15" name="TextBox 14"/>
          <p:cNvSpPr txBox="1"/>
          <p:nvPr/>
        </p:nvSpPr>
        <p:spPr>
          <a:xfrm>
            <a:off x="4800600" y="4572000"/>
            <a:ext cx="3017520" cy="457200"/>
          </a:xfrm>
          <a:prstGeom prst="rect">
            <a:avLst/>
          </a:prstGeom>
          <a:noFill/>
        </p:spPr>
        <p:txBody>
          <a:bodyPr wrap="square" lIns="0" rIns="0" tIns="0" bIns="0" anchor="t">
            <a:spAutoFit/>
          </a:bodyPr>
          <a:lstStyle/>
          <a:p>
            <a:pPr algn="l"/>
            <a:r>
              <a:rPr sz="1800" b="1" i="0">
                <a:solidFill>
                  <a:srgbClr val="072A66"/>
                </a:solidFill>
                <a:latin typeface="Calibri"/>
              </a:rPr>
              <a:t>Industry-leading economics</a:t>
            </a:r>
          </a:p>
        </p:txBody>
      </p:sp>
      <p:sp>
        <p:nvSpPr>
          <p:cNvPr id="16" name="TextBox 15"/>
          <p:cNvSpPr txBox="1"/>
          <p:nvPr/>
        </p:nvSpPr>
        <p:spPr>
          <a:xfrm>
            <a:off x="4800600" y="5074920"/>
            <a:ext cx="3017520" cy="1005840"/>
          </a:xfrm>
          <a:prstGeom prst="rect">
            <a:avLst/>
          </a:prstGeom>
          <a:noFill/>
        </p:spPr>
        <p:txBody>
          <a:bodyPr wrap="square" lIns="0" rIns="0" tIns="0" bIns="0" anchor="t">
            <a:spAutoFit/>
          </a:bodyPr>
          <a:lstStyle/>
          <a:p>
            <a:pPr algn="l"/>
            <a:r>
              <a:rPr sz="1200" b="0" i="0">
                <a:solidFill>
                  <a:srgbClr val="2A2A2A"/>
                </a:solidFill>
                <a:latin typeface="Calibri"/>
              </a:rPr>
              <a:t>60%+ EBITDA margin on data-centre services — unusual quality for an Australian mid-cap, with growing operating leverage.</a:t>
            </a:r>
          </a:p>
        </p:txBody>
      </p:sp>
      <p:sp>
        <p:nvSpPr>
          <p:cNvPr id="17" name="Rectangle 16"/>
          <p:cNvSpPr/>
          <p:nvPr/>
        </p:nvSpPr>
        <p:spPr>
          <a:xfrm>
            <a:off x="8321040" y="3657600"/>
            <a:ext cx="3657600" cy="2468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21040" y="3657600"/>
            <a:ext cx="3657600" cy="9144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41080" y="3931920"/>
            <a:ext cx="3017520" cy="594360"/>
          </a:xfrm>
          <a:prstGeom prst="rect">
            <a:avLst/>
          </a:prstGeom>
          <a:noFill/>
        </p:spPr>
        <p:txBody>
          <a:bodyPr wrap="square" lIns="0" rIns="0" tIns="0" bIns="0" anchor="t">
            <a:spAutoFit/>
          </a:bodyPr>
          <a:lstStyle/>
          <a:p>
            <a:pPr algn="l"/>
            <a:r>
              <a:rPr sz="3200" b="1" i="0">
                <a:solidFill>
                  <a:srgbClr val="E8A317"/>
                </a:solidFill>
                <a:latin typeface="Calibri"/>
              </a:rPr>
              <a:t>03</a:t>
            </a:r>
          </a:p>
        </p:txBody>
      </p:sp>
      <p:sp>
        <p:nvSpPr>
          <p:cNvPr id="20" name="TextBox 19"/>
          <p:cNvSpPr txBox="1"/>
          <p:nvPr/>
        </p:nvSpPr>
        <p:spPr>
          <a:xfrm>
            <a:off x="8641080" y="4572000"/>
            <a:ext cx="3017520" cy="457200"/>
          </a:xfrm>
          <a:prstGeom prst="rect">
            <a:avLst/>
          </a:prstGeom>
          <a:noFill/>
        </p:spPr>
        <p:txBody>
          <a:bodyPr wrap="square" lIns="0" rIns="0" tIns="0" bIns="0" anchor="t">
            <a:spAutoFit/>
          </a:bodyPr>
          <a:lstStyle/>
          <a:p>
            <a:pPr algn="l"/>
            <a:r>
              <a:rPr sz="1800" b="1" i="0">
                <a:solidFill>
                  <a:srgbClr val="072A66"/>
                </a:solidFill>
                <a:latin typeface="Calibri"/>
              </a:rPr>
              <a:t>Durable moat</a:t>
            </a:r>
          </a:p>
        </p:txBody>
      </p:sp>
      <p:sp>
        <p:nvSpPr>
          <p:cNvPr id="21" name="TextBox 20"/>
          <p:cNvSpPr txBox="1"/>
          <p:nvPr/>
        </p:nvSpPr>
        <p:spPr>
          <a:xfrm>
            <a:off x="8641080" y="5074920"/>
            <a:ext cx="3017520" cy="1005840"/>
          </a:xfrm>
          <a:prstGeom prst="rect">
            <a:avLst/>
          </a:prstGeom>
          <a:noFill/>
        </p:spPr>
        <p:txBody>
          <a:bodyPr wrap="square" lIns="0" rIns="0" tIns="0" bIns="0" anchor="t">
            <a:spAutoFit/>
          </a:bodyPr>
          <a:lstStyle/>
          <a:p>
            <a:pPr algn="l"/>
            <a:r>
              <a:rPr sz="1200" b="0" i="0">
                <a:solidFill>
                  <a:srgbClr val="2A2A2A"/>
                </a:solidFill>
                <a:latin typeface="Calibri"/>
              </a:rPr>
              <a:t>Grid-connection rights, hyperscaler switching costs, and ESG-aligned operations that smaller operators can't replicate.</a:t>
            </a:r>
          </a:p>
        </p:txBody>
      </p:sp>
      <p:sp>
        <p:nvSpPr>
          <p:cNvPr id="22" name="Rectangle 21"/>
          <p:cNvSpPr/>
          <p:nvPr/>
        </p:nvSpPr>
        <p:spPr>
          <a:xfrm>
            <a:off x="0" y="6565392"/>
            <a:ext cx="12191695" cy="292608"/>
          </a:xfrm>
          <a:prstGeom prst="rect">
            <a:avLst/>
          </a:prstGeom>
          <a:solidFill>
            <a:srgbClr val="072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6601968"/>
            <a:ext cx="8229600" cy="256032"/>
          </a:xfrm>
          <a:prstGeom prst="rect">
            <a:avLst/>
          </a:prstGeom>
          <a:noFill/>
        </p:spPr>
        <p:txBody>
          <a:bodyPr wrap="square" lIns="0" rIns="0" tIns="0" bIns="0" anchor="ctr">
            <a:spAutoFit/>
          </a:bodyPr>
          <a:lstStyle/>
          <a:p>
            <a:pPr algn="l"/>
            <a:r>
              <a:rPr sz="1000" b="0" i="0">
                <a:solidFill>
                  <a:srgbClr val="FFFFFF"/>
                </a:solidFill>
                <a:latin typeface="Calibri"/>
              </a:rPr>
              <a:t>BEX3000 · Investment Recommendation · Speaker 1</a:t>
            </a:r>
          </a:p>
        </p:txBody>
      </p:sp>
      <p:sp>
        <p:nvSpPr>
          <p:cNvPr id="24" name="TextBox 23"/>
          <p:cNvSpPr txBox="1"/>
          <p:nvPr/>
        </p:nvSpPr>
        <p:spPr>
          <a:xfrm>
            <a:off x="10515600" y="6601968"/>
            <a:ext cx="1280160" cy="256032"/>
          </a:xfrm>
          <a:prstGeom prst="rect">
            <a:avLst/>
          </a:prstGeom>
          <a:noFill/>
        </p:spPr>
        <p:txBody>
          <a:bodyPr wrap="square" lIns="0" rIns="0" tIns="0" bIns="0" anchor="ctr">
            <a:spAutoFit/>
          </a:bodyPr>
          <a:lstStyle/>
          <a:p>
            <a:pPr algn="r"/>
            <a:r>
              <a:rPr sz="1000" b="0" i="0">
                <a:solidFill>
                  <a:srgbClr val="FFFFFF"/>
                </a:solidFill>
                <a:latin typeface="Calibri"/>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11480"/>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274320"/>
          </a:xfrm>
          <a:prstGeom prst="rect">
            <a:avLst/>
          </a:prstGeom>
          <a:noFill/>
        </p:spPr>
        <p:txBody>
          <a:bodyPr wrap="square" lIns="0" rIns="0" tIns="0" bIns="0" anchor="t">
            <a:spAutoFit/>
          </a:bodyPr>
          <a:lstStyle/>
          <a:p>
            <a:pPr algn="l"/>
            <a:r>
              <a:rPr sz="1100" b="1" i="0">
                <a:solidFill>
                  <a:srgbClr val="E8A317"/>
                </a:solidFill>
                <a:latin typeface="Calibri"/>
              </a:rPr>
              <a:t>09 · SOURCES</a:t>
            </a:r>
          </a:p>
        </p:txBody>
      </p:sp>
      <p:sp>
        <p:nvSpPr>
          <p:cNvPr id="5" name="Rectangle 4"/>
          <p:cNvSpPr/>
          <p:nvPr/>
        </p:nvSpPr>
        <p:spPr>
          <a:xfrm>
            <a:off x="411480" y="914400"/>
            <a:ext cx="73152" cy="502920"/>
          </a:xfrm>
          <a:prstGeom prst="rect">
            <a:avLst/>
          </a:prstGeom>
          <a:solidFill>
            <a:srgbClr val="E8A3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868680"/>
            <a:ext cx="10972800" cy="640080"/>
          </a:xfrm>
          <a:prstGeom prst="rect">
            <a:avLst/>
          </a:prstGeom>
          <a:noFill/>
        </p:spPr>
        <p:txBody>
          <a:bodyPr wrap="square" lIns="0" rIns="0" tIns="0" bIns="0" anchor="t">
            <a:spAutoFit/>
          </a:bodyPr>
          <a:lstStyle/>
          <a:p>
            <a:pPr algn="l"/>
            <a:r>
              <a:rPr sz="3000" b="1" i="0">
                <a:solidFill>
                  <a:srgbClr val="072A66"/>
                </a:solidFill>
                <a:latin typeface="Calibri"/>
              </a:rPr>
              <a:t>References</a:t>
            </a:r>
          </a:p>
        </p:txBody>
      </p:sp>
      <p:sp>
        <p:nvSpPr>
          <p:cNvPr id="7" name="TextBox 6"/>
          <p:cNvSpPr txBox="1"/>
          <p:nvPr/>
        </p:nvSpPr>
        <p:spPr>
          <a:xfrm>
            <a:off x="640080" y="1920240"/>
            <a:ext cx="10972800" cy="4389120"/>
          </a:xfrm>
          <a:prstGeom prst="rect">
            <a:avLst/>
          </a:prstGeom>
          <a:noFill/>
        </p:spPr>
        <p:txBody>
          <a:bodyPr wrap="square" lIns="0" rIns="0" tIns="0" bIns="0">
            <a:spAutoFit/>
          </a:bodyPr>
          <a:lstStyle/>
          <a:p>
            <a:pPr algn="l">
              <a:lnSpc>
                <a:spcPct val="120000"/>
              </a:lnSpc>
              <a:spcBef>
                <a:spcPts val="500"/>
              </a:spcBef>
            </a:pPr>
            <a:r>
              <a:rPr sz="1200" b="0" i="0">
                <a:solidFill>
                  <a:srgbClr val="2A2A2A"/>
                </a:solidFill>
                <a:latin typeface="Calibri"/>
              </a:rPr>
              <a:t>Ainvest. (2025, September). Beacon Lighting Group (ASX:BLX): Navigating margin pressure amid record sales and strategic expansion.</a:t>
            </a:r>
          </a:p>
          <a:p>
            <a:pPr algn="l">
              <a:lnSpc>
                <a:spcPct val="120000"/>
              </a:lnSpc>
              <a:spcBef>
                <a:spcPts val="500"/>
              </a:spcBef>
            </a:pPr>
            <a:r>
              <a:rPr sz="1200" b="0" i="0">
                <a:solidFill>
                  <a:srgbClr val="2A2A2A"/>
                </a:solidFill>
                <a:latin typeface="Calibri"/>
              </a:rPr>
              <a:t>Corporate Traveler. (2025, August). Flight Centre Travel Group releases its full-year FY25 results to the ASX.</a:t>
            </a:r>
          </a:p>
          <a:p>
            <a:pPr algn="l">
              <a:lnSpc>
                <a:spcPct val="120000"/>
              </a:lnSpc>
              <a:spcBef>
                <a:spcPts val="500"/>
              </a:spcBef>
            </a:pPr>
            <a:r>
              <a:rPr sz="1200" b="0" i="0">
                <a:solidFill>
                  <a:srgbClr val="2A2A2A"/>
                </a:solidFill>
                <a:latin typeface="Calibri"/>
              </a:rPr>
              <a:t>FCM Travel Group. (2025, August). Flight Centre Travel Group FY25 Financial Results.</a:t>
            </a:r>
          </a:p>
          <a:p>
            <a:pPr algn="l">
              <a:lnSpc>
                <a:spcPct val="120000"/>
              </a:lnSpc>
              <a:spcBef>
                <a:spcPts val="500"/>
              </a:spcBef>
            </a:pPr>
            <a:r>
              <a:rPr sz="1200" b="0" i="0">
                <a:solidFill>
                  <a:srgbClr val="2A2A2A"/>
                </a:solidFill>
                <a:latin typeface="Calibri"/>
              </a:rPr>
              <a:t>NextDC Limited. (2025, August 28). FY25 Full-Year Results Presentation. ASX Announcement.</a:t>
            </a:r>
          </a:p>
          <a:p>
            <a:pPr algn="l">
              <a:lnSpc>
                <a:spcPct val="120000"/>
              </a:lnSpc>
              <a:spcBef>
                <a:spcPts val="500"/>
              </a:spcBef>
            </a:pPr>
            <a:r>
              <a:rPr sz="1200" b="0" i="0">
                <a:solidFill>
                  <a:srgbClr val="2A2A2A"/>
                </a:solidFill>
                <a:latin typeface="Calibri"/>
              </a:rPr>
              <a:t>NextDC Limited. (2025). Annual Report FY25.</a:t>
            </a:r>
          </a:p>
          <a:p>
            <a:pPr algn="l">
              <a:lnSpc>
                <a:spcPct val="120000"/>
              </a:lnSpc>
              <a:spcBef>
                <a:spcPts val="500"/>
              </a:spcBef>
            </a:pPr>
            <a:r>
              <a:rPr sz="1200" b="0" i="0">
                <a:solidFill>
                  <a:srgbClr val="2A2A2A"/>
                </a:solidFill>
                <a:latin typeface="Calibri"/>
              </a:rPr>
              <a:t>Rask Media. (2025, July 31). Flight Centre (ASX:FLT) share price sinks on FY25 result preview.</a:t>
            </a:r>
          </a:p>
          <a:p>
            <a:pPr algn="l">
              <a:lnSpc>
                <a:spcPct val="120000"/>
              </a:lnSpc>
              <a:spcBef>
                <a:spcPts val="500"/>
              </a:spcBef>
            </a:pPr>
            <a:r>
              <a:rPr sz="1200" b="0" i="0">
                <a:solidFill>
                  <a:srgbClr val="2A2A2A"/>
                </a:solidFill>
                <a:latin typeface="Calibri"/>
              </a:rPr>
              <a:t>Simply Wall St. (2026). Beacon Lighting Group (ASX:BLX) — Stock Analysis.</a:t>
            </a:r>
          </a:p>
          <a:p>
            <a:pPr algn="l">
              <a:lnSpc>
                <a:spcPct val="120000"/>
              </a:lnSpc>
              <a:spcBef>
                <a:spcPts val="500"/>
              </a:spcBef>
            </a:pPr>
            <a:r>
              <a:rPr sz="1200" b="0" i="0">
                <a:solidFill>
                  <a:srgbClr val="2A2A2A"/>
                </a:solidFill>
                <a:latin typeface="Calibri"/>
              </a:rPr>
              <a:t>Stocks Down Under. (2025). NEXTDC (ASX:NXT): Record 667 MW contracted &amp; A$2.2bn capital plan.</a:t>
            </a:r>
          </a:p>
          <a:p>
            <a:pPr algn="l">
              <a:lnSpc>
                <a:spcPct val="120000"/>
              </a:lnSpc>
              <a:spcBef>
                <a:spcPts val="500"/>
              </a:spcBef>
            </a:pPr>
            <a:r>
              <a:rPr sz="1200" b="0" i="0">
                <a:solidFill>
                  <a:srgbClr val="2A2A2A"/>
                </a:solidFill>
                <a:latin typeface="Calibri"/>
              </a:rPr>
              <a:t>The Bull. (2025). Flight Centre shares under pressure, at lowest level in more than five years.</a:t>
            </a:r>
          </a:p>
        </p:txBody>
      </p:sp>
      <p:sp>
        <p:nvSpPr>
          <p:cNvPr id="8" name="Rectangle 7"/>
          <p:cNvSpPr/>
          <p:nvPr/>
        </p:nvSpPr>
        <p:spPr>
          <a:xfrm>
            <a:off x="0" y="6565392"/>
            <a:ext cx="12191695" cy="292608"/>
          </a:xfrm>
          <a:prstGeom prst="rect">
            <a:avLst/>
          </a:prstGeom>
          <a:solidFill>
            <a:srgbClr val="0B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601968"/>
            <a:ext cx="8229600" cy="256032"/>
          </a:xfrm>
          <a:prstGeom prst="rect">
            <a:avLst/>
          </a:prstGeom>
          <a:noFill/>
        </p:spPr>
        <p:txBody>
          <a:bodyPr wrap="square" lIns="0" rIns="0" tIns="0" bIns="0" anchor="ctr">
            <a:spAutoFit/>
          </a:bodyPr>
          <a:lstStyle/>
          <a:p>
            <a:pPr algn="l"/>
            <a:r>
              <a:rPr sz="1000" b="0" i="0">
                <a:solidFill>
                  <a:srgbClr val="FFFFFF"/>
                </a:solidFill>
                <a:latin typeface="Calibri"/>
              </a:rPr>
              <a:t>BEX3000 · Investment Recommendation  ·  Speaker —</a:t>
            </a:r>
          </a:p>
        </p:txBody>
      </p:sp>
      <p:sp>
        <p:nvSpPr>
          <p:cNvPr id="10" name="TextBox 9"/>
          <p:cNvSpPr txBox="1"/>
          <p:nvPr/>
        </p:nvSpPr>
        <p:spPr>
          <a:xfrm>
            <a:off x="10515600" y="6601968"/>
            <a:ext cx="1280160" cy="256032"/>
          </a:xfrm>
          <a:prstGeom prst="rect">
            <a:avLst/>
          </a:prstGeom>
          <a:noFill/>
        </p:spPr>
        <p:txBody>
          <a:bodyPr wrap="square" lIns="0" rIns="0" tIns="0" bIns="0" anchor="ctr">
            <a:spAutoFit/>
          </a:bodyPr>
          <a:lstStyle/>
          <a:p>
            <a:pPr algn="r"/>
            <a:r>
              <a:rPr sz="1000" b="0" i="0">
                <a:solidFill>
                  <a:srgbClr val="FFFFFF"/>
                </a:solidFill>
                <a:latin typeface="Calibr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